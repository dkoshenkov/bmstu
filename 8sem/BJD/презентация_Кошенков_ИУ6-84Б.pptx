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MiSans" pitchFamily="2" charset="-122"/>
      <p:regular r:id="rId14"/>
    </p:embeddedFont>
    <p:embeddedFont>
      <p:font typeface="Noto Sans SC" panose="020B0200000000000000" pitchFamily="34" charset="-128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mbria Math" panose="02040503050406030204" pitchFamily="18" charset="0"/>
      <p:regular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2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82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158433"/>
            <a:ext cx="11509375" cy="6492875"/>
          </a:xfrm>
          <a:custGeom>
            <a:avLst/>
            <a:gdLst/>
            <a:ahLst/>
            <a:cxnLst/>
            <a:rect l="l" t="t" r="r" b="b"/>
            <a:pathLst>
              <a:path w="11509375" h="6492875">
                <a:moveTo>
                  <a:pt x="0" y="0"/>
                </a:moveTo>
                <a:lnTo>
                  <a:pt x="11509375" y="0"/>
                </a:lnTo>
                <a:lnTo>
                  <a:pt x="11509375" y="6492875"/>
                </a:lnTo>
                <a:lnTo>
                  <a:pt x="0" y="649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76250" y="571500"/>
            <a:ext cx="11239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ПРАВИЛА СЛОЖЕНИЯ </a:t>
            </a:r>
            <a:endParaRPr lang="en-US" sz="7200" b="1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УРОВНЕЙ ШУМА</a:t>
            </a:r>
            <a:endParaRPr lang="en-US" sz="7200" b="1" dirty="0"/>
          </a:p>
        </p:txBody>
      </p:sp>
      <p:sp>
        <p:nvSpPr>
          <p:cNvPr id="4" name="Shape 2"/>
          <p:cNvSpPr/>
          <p:nvPr/>
        </p:nvSpPr>
        <p:spPr>
          <a:xfrm>
            <a:off x="6238875" y="3254375"/>
            <a:ext cx="5334000" cy="746125"/>
          </a:xfrm>
          <a:custGeom>
            <a:avLst/>
            <a:gdLst/>
            <a:ahLst/>
            <a:cxnLst/>
            <a:rect l="l" t="t" r="r" b="b"/>
            <a:pathLst>
              <a:path w="5334000" h="746125">
                <a:moveTo>
                  <a:pt x="0" y="0"/>
                </a:moveTo>
                <a:lnTo>
                  <a:pt x="5334000" y="0"/>
                </a:lnTo>
                <a:lnTo>
                  <a:pt x="5334000" y="746125"/>
                </a:lnTo>
                <a:lnTo>
                  <a:pt x="0" y="746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  <a:effectLst>
            <a:outerShdw blurRad="101600" dist="3175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89688" y="3405188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ДИСЦИПЛИНА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89688" y="3627438"/>
            <a:ext cx="510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Безопасность жизнедеятельности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8875" y="4256088"/>
            <a:ext cx="5334000" cy="746125"/>
          </a:xfrm>
          <a:custGeom>
            <a:avLst/>
            <a:gdLst/>
            <a:ahLst/>
            <a:cxnLst/>
            <a:rect l="l" t="t" r="r" b="b"/>
            <a:pathLst>
              <a:path w="5334000" h="746125">
                <a:moveTo>
                  <a:pt x="0" y="0"/>
                </a:moveTo>
                <a:lnTo>
                  <a:pt x="5334000" y="0"/>
                </a:lnTo>
                <a:lnTo>
                  <a:pt x="5334000" y="746125"/>
                </a:lnTo>
                <a:lnTo>
                  <a:pt x="0" y="746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  <a:effectLst>
            <a:outerShdw blurRad="101600" dist="3175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65875" y="4445000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СТУДЕНТ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5875" y="4667250"/>
            <a:ext cx="510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ИУ6-84Б Д.О. Кошенков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8875" y="5278438"/>
            <a:ext cx="5334000" cy="746125"/>
          </a:xfrm>
          <a:custGeom>
            <a:avLst/>
            <a:gdLst/>
            <a:ahLst/>
            <a:cxnLst/>
            <a:rect l="l" t="t" r="r" b="b"/>
            <a:pathLst>
              <a:path w="5334000" h="746125">
                <a:moveTo>
                  <a:pt x="0" y="0"/>
                </a:moveTo>
                <a:lnTo>
                  <a:pt x="5334000" y="0"/>
                </a:lnTo>
                <a:lnTo>
                  <a:pt x="5334000" y="746125"/>
                </a:lnTo>
                <a:lnTo>
                  <a:pt x="0" y="746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  <a:effectLst>
            <a:outerShdw blurRad="101600" dist="3175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1906" y="5407223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ПРЕПОДАВАТЕЛЬ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3969" y="5651500"/>
            <a:ext cx="510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Б.С. Ксенофонтов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291683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0" y="0"/>
                </a:moveTo>
                <a:lnTo>
                  <a:pt x="498723" y="0"/>
                </a:lnTo>
                <a:lnTo>
                  <a:pt x="498723" y="498723"/>
                </a:lnTo>
                <a:lnTo>
                  <a:pt x="0" y="4987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02796" y="291683"/>
            <a:ext cx="605592" cy="498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97446" y="362929"/>
            <a:ext cx="10134767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ВВЕДЕНИЕ: ПОЧЕМУ НЕЛЬЗЯ ПРОСТО СЛОЖИТЬ ДЕЦИБЕЛЫ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2948" y="959616"/>
            <a:ext cx="5610636" cy="2825007"/>
          </a:xfrm>
          <a:custGeom>
            <a:avLst/>
            <a:gdLst/>
            <a:ahLst/>
            <a:cxnLst/>
            <a:rect l="l" t="t" r="r" b="b"/>
            <a:pathLst>
              <a:path w="5610636" h="2386747">
                <a:moveTo>
                  <a:pt x="0" y="0"/>
                </a:moveTo>
                <a:lnTo>
                  <a:pt x="5610636" y="0"/>
                </a:lnTo>
                <a:lnTo>
                  <a:pt x="5610636" y="2386747"/>
                </a:lnTo>
                <a:lnTo>
                  <a:pt x="0" y="2386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1246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7781" y="1164448"/>
            <a:ext cx="293890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6067" y="1182260"/>
            <a:ext cx="1184467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7781" y="1485056"/>
            <a:ext cx="5272216" cy="1301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Шум на производстве, в транспорте и городской среде 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почти никогда не возникает от одного источника</a:t>
            </a: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Человек одновременно слышит несколько звуковых полей, которые накладываются друг на друга.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4498" y="2887522"/>
            <a:ext cx="5147535" cy="694650"/>
          </a:xfrm>
          <a:custGeom>
            <a:avLst/>
            <a:gdLst/>
            <a:ahLst/>
            <a:cxnLst/>
            <a:rect l="l" t="t" r="r" b="b"/>
            <a:pathLst>
              <a:path w="5147535" h="694650">
                <a:moveTo>
                  <a:pt x="0" y="0"/>
                </a:moveTo>
                <a:lnTo>
                  <a:pt x="5147535" y="0"/>
                </a:lnTo>
                <a:lnTo>
                  <a:pt x="5147535" y="694650"/>
                </a:lnTo>
                <a:lnTo>
                  <a:pt x="0" y="6946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8085" y="3021109"/>
            <a:ext cx="4951608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Практический вопрос: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как правильно определить общий уровень шума?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2948" y="3918209"/>
            <a:ext cx="5610636" cy="1620309"/>
          </a:xfrm>
          <a:custGeom>
            <a:avLst/>
            <a:gdLst/>
            <a:ahLst/>
            <a:cxnLst/>
            <a:rect l="l" t="t" r="r" b="b"/>
            <a:pathLst>
              <a:path w="5610636" h="2333312">
                <a:moveTo>
                  <a:pt x="0" y="0"/>
                </a:moveTo>
                <a:lnTo>
                  <a:pt x="5610636" y="0"/>
                </a:lnTo>
                <a:lnTo>
                  <a:pt x="5610636" y="2333312"/>
                </a:lnTo>
                <a:lnTo>
                  <a:pt x="0" y="23333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1246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7781" y="4123042"/>
            <a:ext cx="293890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6067" y="4140853"/>
            <a:ext cx="94401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Ошибка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781" y="4550518"/>
            <a:ext cx="5272216" cy="82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сложить уровни в децибелах как обычные числа, результат будет </a:t>
            </a: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неверным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3407" y="959616"/>
            <a:ext cx="5610636" cy="2127537"/>
          </a:xfrm>
          <a:custGeom>
            <a:avLst/>
            <a:gdLst/>
            <a:ahLst/>
            <a:cxnLst/>
            <a:rect l="l" t="t" r="r" b="b"/>
            <a:pathLst>
              <a:path w="5610636" h="2368935">
                <a:moveTo>
                  <a:pt x="0" y="0"/>
                </a:moveTo>
                <a:lnTo>
                  <a:pt x="5610636" y="0"/>
                </a:lnTo>
                <a:lnTo>
                  <a:pt x="5610636" y="2368935"/>
                </a:lnTo>
                <a:lnTo>
                  <a:pt x="0" y="23689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1246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98240" y="1164448"/>
            <a:ext cx="365137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40207" y="1182260"/>
            <a:ext cx="1024164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Причина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9500" y="1626323"/>
            <a:ext cx="5272216" cy="126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Децибел — логарифмическая единица.</a:t>
            </a: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Поэтому суммирование шумов происходит не арифметически, а энергетически.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25134" y="3331499"/>
            <a:ext cx="5610636" cy="2207019"/>
          </a:xfrm>
          <a:custGeom>
            <a:avLst/>
            <a:gdLst/>
            <a:ahLst/>
            <a:cxnLst/>
            <a:rect l="l" t="t" r="r" b="b"/>
            <a:pathLst>
              <a:path w="5610636" h="2351123">
                <a:moveTo>
                  <a:pt x="0" y="0"/>
                </a:moveTo>
                <a:lnTo>
                  <a:pt x="5610636" y="0"/>
                </a:lnTo>
                <a:lnTo>
                  <a:pt x="5610636" y="2351123"/>
                </a:lnTo>
                <a:lnTo>
                  <a:pt x="0" y="23511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1246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23084" y="3615812"/>
            <a:ext cx="400760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97126" y="3633624"/>
            <a:ext cx="1505075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Цель работы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23084" y="3918209"/>
            <a:ext cx="5272216" cy="14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Показать основные правила сложения уровней шума, привести удобные приближенные оценки и объяснить, как применять эти правила на практике при анализе рабочих мест.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82948" y="5782863"/>
            <a:ext cx="11426104" cy="694650"/>
          </a:xfrm>
          <a:custGeom>
            <a:avLst/>
            <a:gdLst/>
            <a:ahLst/>
            <a:cxnLst/>
            <a:rect l="l" t="t" r="r" b="b"/>
            <a:pathLst>
              <a:path w="11426104" h="694650">
                <a:moveTo>
                  <a:pt x="0" y="0"/>
                </a:moveTo>
                <a:lnTo>
                  <a:pt x="11426104" y="0"/>
                </a:lnTo>
                <a:lnTo>
                  <a:pt x="11426104" y="694650"/>
                </a:lnTo>
                <a:lnTo>
                  <a:pt x="0" y="6946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535" y="5916450"/>
            <a:ext cx="11230177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Нормативная база: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ГОСТ 12.0.003-2015, ГОСТ 12.1.003-83 — шум рассматривается как вредный производственный фактор, учитывается уровень звукового давления, спектральный состав, продолжительность воздействия и число одновременно действующих источников.</a:t>
            </a:r>
            <a:endParaRPr lang="en-US" sz="125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701" y="244605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0" y="0"/>
                </a:moveTo>
                <a:lnTo>
                  <a:pt x="523182" y="0"/>
                </a:lnTo>
                <a:lnTo>
                  <a:pt x="523182" y="523182"/>
                </a:lnTo>
                <a:lnTo>
                  <a:pt x="0" y="5231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17646" y="244605"/>
            <a:ext cx="635292" cy="523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6363" y="319345"/>
            <a:ext cx="9286474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ЧТО ТАКОЕ ШУМ И УРОВЕНЬ ЗВУКОВОГО ДАВЛЕНИЯ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1729" y="945295"/>
            <a:ext cx="6754648" cy="2727627"/>
          </a:xfrm>
          <a:custGeom>
            <a:avLst/>
            <a:gdLst/>
            <a:ahLst/>
            <a:cxnLst/>
            <a:rect l="l" t="t" r="r" b="b"/>
            <a:pathLst>
              <a:path w="6754648" h="2802759">
                <a:moveTo>
                  <a:pt x="0" y="0"/>
                </a:moveTo>
                <a:lnTo>
                  <a:pt x="6754648" y="0"/>
                </a:lnTo>
                <a:lnTo>
                  <a:pt x="6754648" y="2802759"/>
                </a:lnTo>
                <a:lnTo>
                  <a:pt x="0" y="28027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474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6607" y="1160173"/>
            <a:ext cx="308303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8051" y="1178858"/>
            <a:ext cx="2279577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Определение шума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34" y="1636642"/>
            <a:ext cx="6268837" cy="840828"/>
          </a:xfrm>
          <a:custGeom>
            <a:avLst/>
            <a:gdLst/>
            <a:ahLst/>
            <a:cxnLst/>
            <a:rect l="l" t="t" r="r" b="b"/>
            <a:pathLst>
              <a:path w="6268837" h="840828">
                <a:moveTo>
                  <a:pt x="0" y="0"/>
                </a:moveTo>
                <a:lnTo>
                  <a:pt x="6268837" y="0"/>
                </a:lnTo>
                <a:lnTo>
                  <a:pt x="6268837" y="840828"/>
                </a:lnTo>
                <a:lnTo>
                  <a:pt x="0" y="84082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143" y="1814150"/>
            <a:ext cx="5988561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ГОСТ 12.1.003-83: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совокупность нежелательных звуков различной частоты и интенсивности, которые мешают работе, отдыху и восприятию полезных сигналов.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6607" y="2617607"/>
            <a:ext cx="6399632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 рабочем месте шум характеризуют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уровнем звукового давления в децибелах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(дБ). При необходимости дополняют оценку сведениями о спектре, времени воздействия и режиме работы оборудования (ГОСТ 12.1.050-86).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2" y="3850983"/>
            <a:ext cx="6754648" cy="2802759"/>
          </a:xfrm>
          <a:custGeom>
            <a:avLst/>
            <a:gdLst/>
            <a:ahLst/>
            <a:cxnLst/>
            <a:rect l="l" t="t" r="r" b="b"/>
            <a:pathLst>
              <a:path w="6754648" h="2802759">
                <a:moveTo>
                  <a:pt x="0" y="0"/>
                </a:moveTo>
                <a:lnTo>
                  <a:pt x="6754648" y="0"/>
                </a:lnTo>
                <a:lnTo>
                  <a:pt x="6754648" y="2802759"/>
                </a:lnTo>
                <a:lnTo>
                  <a:pt x="0" y="28027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474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6607" y="4164526"/>
            <a:ext cx="383044" cy="33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7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5345" y="4183211"/>
            <a:ext cx="2298262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Почему децибелы?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6607" y="4612967"/>
            <a:ext cx="6399632" cy="485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Уровень шума выражают в децибелах, чтобы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удобно сравнивать очень большие и очень маленькие значения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звуковой энергии.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34" y="5350677"/>
            <a:ext cx="6268837" cy="952938"/>
          </a:xfrm>
          <a:custGeom>
            <a:avLst/>
            <a:gdLst/>
            <a:ahLst/>
            <a:cxnLst/>
            <a:rect l="l" t="t" r="r" b="b"/>
            <a:pathLst>
              <a:path w="6268837" h="952938">
                <a:moveTo>
                  <a:pt x="0" y="0"/>
                </a:moveTo>
                <a:lnTo>
                  <a:pt x="6268837" y="0"/>
                </a:lnTo>
                <a:lnTo>
                  <a:pt x="6268837" y="952938"/>
                </a:lnTo>
                <a:lnTo>
                  <a:pt x="0" y="95293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4772" y="5490815"/>
            <a:ext cx="6063301" cy="672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Логарифмическая шкала:</a:t>
            </a:r>
            <a:r>
              <a:rPr lang="en-US" sz="12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одно и то же приращение в децибелах соответствует не одинаковой абсолютной прибавке энергии, а одному и тому же </a:t>
            </a: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кратному изменению интенсивности</a:t>
            </a:r>
            <a:r>
              <a:rPr lang="en-US" sz="12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57460" y="945295"/>
            <a:ext cx="4428359" cy="5708447"/>
          </a:xfrm>
          <a:custGeom>
            <a:avLst/>
            <a:gdLst/>
            <a:ahLst/>
            <a:cxnLst/>
            <a:rect l="l" t="t" r="r" b="b"/>
            <a:pathLst>
              <a:path w="4428359" h="5803243">
                <a:moveTo>
                  <a:pt x="0" y="0"/>
                </a:moveTo>
                <a:lnTo>
                  <a:pt x="4428359" y="0"/>
                </a:lnTo>
                <a:lnTo>
                  <a:pt x="4428359" y="5803243"/>
                </a:lnTo>
                <a:lnTo>
                  <a:pt x="0" y="580324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474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25626" y="1234913"/>
            <a:ext cx="409202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Ключевой принцип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5626" y="1748752"/>
            <a:ext cx="3942547" cy="1389530"/>
          </a:xfrm>
          <a:custGeom>
            <a:avLst/>
            <a:gdLst/>
            <a:ahLst/>
            <a:cxnLst/>
            <a:rect l="l" t="t" r="r" b="b"/>
            <a:pathLst>
              <a:path w="3942547" h="1389530">
                <a:moveTo>
                  <a:pt x="0" y="0"/>
                </a:moveTo>
                <a:lnTo>
                  <a:pt x="3942547" y="0"/>
                </a:lnTo>
                <a:lnTo>
                  <a:pt x="3942547" y="1389530"/>
                </a:lnTo>
                <a:lnTo>
                  <a:pt x="0" y="138953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8392" y="1982656"/>
            <a:ext cx="373701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 дБ → 90 дБ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28391" y="2617607"/>
            <a:ext cx="373701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Разница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10 раз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 энергии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525625" y="3405540"/>
            <a:ext cx="3942547" cy="1389530"/>
          </a:xfrm>
          <a:custGeom>
            <a:avLst/>
            <a:gdLst/>
            <a:ahLst/>
            <a:cxnLst/>
            <a:rect l="l" t="t" r="r" b="b"/>
            <a:pathLst>
              <a:path w="3942547" h="1312435">
                <a:moveTo>
                  <a:pt x="0" y="0"/>
                </a:moveTo>
                <a:lnTo>
                  <a:pt x="3942547" y="0"/>
                </a:lnTo>
                <a:lnTo>
                  <a:pt x="3942547" y="1312435"/>
                </a:lnTo>
                <a:lnTo>
                  <a:pt x="0" y="131243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625" y="5348442"/>
            <a:ext cx="3942547" cy="845917"/>
          </a:xfrm>
          <a:custGeom>
            <a:avLst/>
            <a:gdLst/>
            <a:ahLst/>
            <a:cxnLst/>
            <a:rect l="l" t="t" r="r" b="b"/>
            <a:pathLst>
              <a:path w="3942547" h="845917">
                <a:moveTo>
                  <a:pt x="0" y="0"/>
                </a:moveTo>
                <a:lnTo>
                  <a:pt x="3942547" y="0"/>
                </a:lnTo>
                <a:lnTo>
                  <a:pt x="3942547" y="845917"/>
                </a:lnTo>
                <a:lnTo>
                  <a:pt x="0" y="8459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306" y="5629576"/>
            <a:ext cx="2482666" cy="2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Каждые +10 дБ = энергия ×10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28392" y="4307873"/>
            <a:ext cx="373701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 дБ → 100 дБ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628392" y="3672922"/>
            <a:ext cx="373701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Тоже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10 раз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 энергии</a:t>
            </a:r>
            <a:endParaRPr lang="en-US" sz="125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977" y="383206"/>
            <a:ext cx="451221" cy="505368"/>
          </a:xfrm>
          <a:custGeom>
            <a:avLst/>
            <a:gdLst/>
            <a:ahLst/>
            <a:cxnLst/>
            <a:rect l="l" t="t" r="r" b="b"/>
            <a:pathLst>
              <a:path w="451221" h="505368">
                <a:moveTo>
                  <a:pt x="0" y="0"/>
                </a:moveTo>
                <a:lnTo>
                  <a:pt x="451221" y="0"/>
                </a:lnTo>
                <a:lnTo>
                  <a:pt x="451221" y="505368"/>
                </a:lnTo>
                <a:lnTo>
                  <a:pt x="0" y="5053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06830" y="383206"/>
            <a:ext cx="559514" cy="505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3276" y="274913"/>
            <a:ext cx="11036873" cy="72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8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ЛОГАРИФМИЧЕСКАЯ ШКАЛА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050" y="1168331"/>
            <a:ext cx="5613193" cy="2689279"/>
          </a:xfrm>
          <a:custGeom>
            <a:avLst/>
            <a:gdLst/>
            <a:ahLst/>
            <a:cxnLst/>
            <a:rect l="l" t="t" r="r" b="b"/>
            <a:pathLst>
              <a:path w="5613193" h="2689279">
                <a:moveTo>
                  <a:pt x="0" y="0"/>
                </a:moveTo>
                <a:lnTo>
                  <a:pt x="5613193" y="0"/>
                </a:lnTo>
                <a:lnTo>
                  <a:pt x="5613193" y="2689279"/>
                </a:lnTo>
                <a:lnTo>
                  <a:pt x="0" y="26892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2195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5612" y="1375893"/>
            <a:ext cx="5306363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Линейная шкала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2685" y="1836139"/>
            <a:ext cx="667808" cy="379026"/>
          </a:xfrm>
          <a:custGeom>
            <a:avLst/>
            <a:gdLst/>
            <a:ahLst/>
            <a:cxnLst/>
            <a:rect l="l" t="t" r="r" b="b"/>
            <a:pathLst>
              <a:path w="667808" h="379026">
                <a:moveTo>
                  <a:pt x="0" y="0"/>
                </a:moveTo>
                <a:lnTo>
                  <a:pt x="667808" y="0"/>
                </a:lnTo>
                <a:lnTo>
                  <a:pt x="667808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9514" y="1809066"/>
            <a:ext cx="685856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52933" y="1836139"/>
            <a:ext cx="2075618" cy="379026"/>
          </a:xfrm>
          <a:custGeom>
            <a:avLst/>
            <a:gdLst/>
            <a:ahLst/>
            <a:cxnLst/>
            <a:rect l="l" t="t" r="r" b="b"/>
            <a:pathLst>
              <a:path w="2075618" h="379026">
                <a:moveTo>
                  <a:pt x="0" y="0"/>
                </a:moveTo>
                <a:lnTo>
                  <a:pt x="2075618" y="0"/>
                </a:lnTo>
                <a:lnTo>
                  <a:pt x="2075618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762" y="1809066"/>
            <a:ext cx="209366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88946" y="1836139"/>
            <a:ext cx="2075618" cy="379026"/>
          </a:xfrm>
          <a:custGeom>
            <a:avLst/>
            <a:gdLst/>
            <a:ahLst/>
            <a:cxnLst/>
            <a:rect l="l" t="t" r="r" b="b"/>
            <a:pathLst>
              <a:path w="2075618" h="379026">
                <a:moveTo>
                  <a:pt x="0" y="0"/>
                </a:moveTo>
                <a:lnTo>
                  <a:pt x="2075618" y="0"/>
                </a:lnTo>
                <a:lnTo>
                  <a:pt x="2075618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5775" y="1809066"/>
            <a:ext cx="209366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5612" y="2350531"/>
            <a:ext cx="527026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Равные приращения = равные прибавки энергии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2685" y="2702484"/>
            <a:ext cx="5141880" cy="920491"/>
          </a:xfrm>
          <a:custGeom>
            <a:avLst/>
            <a:gdLst/>
            <a:ahLst/>
            <a:cxnLst/>
            <a:rect l="l" t="t" r="r" b="b"/>
            <a:pathLst>
              <a:path w="5143923" h="920491">
                <a:moveTo>
                  <a:pt x="0" y="0"/>
                </a:moveTo>
                <a:lnTo>
                  <a:pt x="5143923" y="0"/>
                </a:lnTo>
                <a:lnTo>
                  <a:pt x="5143923" y="920491"/>
                </a:lnTo>
                <a:lnTo>
                  <a:pt x="0" y="92049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052" y="2837850"/>
            <a:ext cx="4945386" cy="64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20 − 10 = 10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30 − 20 = 10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Разница одинаковая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8050" y="4056148"/>
            <a:ext cx="5613193" cy="2689279"/>
          </a:xfrm>
          <a:custGeom>
            <a:avLst/>
            <a:gdLst/>
            <a:ahLst/>
            <a:cxnLst/>
            <a:rect l="l" t="t" r="r" b="b"/>
            <a:pathLst>
              <a:path w="5613193" h="2689279">
                <a:moveTo>
                  <a:pt x="0" y="0"/>
                </a:moveTo>
                <a:lnTo>
                  <a:pt x="5613193" y="0"/>
                </a:lnTo>
                <a:lnTo>
                  <a:pt x="5613193" y="2689279"/>
                </a:lnTo>
                <a:lnTo>
                  <a:pt x="0" y="26892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2195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5612" y="4263710"/>
            <a:ext cx="5306363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Логарифмическая шкала (дБ)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685" y="4723955"/>
            <a:ext cx="667808" cy="379026"/>
          </a:xfrm>
          <a:custGeom>
            <a:avLst/>
            <a:gdLst/>
            <a:ahLst/>
            <a:cxnLst/>
            <a:rect l="l" t="t" r="r" b="b"/>
            <a:pathLst>
              <a:path w="667808" h="379026">
                <a:moveTo>
                  <a:pt x="0" y="0"/>
                </a:moveTo>
                <a:lnTo>
                  <a:pt x="667808" y="0"/>
                </a:lnTo>
                <a:lnTo>
                  <a:pt x="667808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1E2939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514" y="4696882"/>
            <a:ext cx="685856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452933" y="4723955"/>
            <a:ext cx="2075618" cy="379026"/>
          </a:xfrm>
          <a:custGeom>
            <a:avLst/>
            <a:gdLst/>
            <a:ahLst/>
            <a:cxnLst/>
            <a:rect l="l" t="t" r="r" b="b"/>
            <a:pathLst>
              <a:path w="2075618" h="379026">
                <a:moveTo>
                  <a:pt x="0" y="0"/>
                </a:moveTo>
                <a:lnTo>
                  <a:pt x="2075618" y="0"/>
                </a:lnTo>
                <a:lnTo>
                  <a:pt x="2075618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762" y="4696882"/>
            <a:ext cx="209366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88946" y="4723955"/>
            <a:ext cx="2075618" cy="379026"/>
          </a:xfrm>
          <a:custGeom>
            <a:avLst/>
            <a:gdLst/>
            <a:ahLst/>
            <a:cxnLst/>
            <a:rect l="l" t="t" r="r" b="b"/>
            <a:pathLst>
              <a:path w="2075618" h="379026">
                <a:moveTo>
                  <a:pt x="0" y="0"/>
                </a:moveTo>
                <a:lnTo>
                  <a:pt x="2075618" y="0"/>
                </a:lnTo>
                <a:lnTo>
                  <a:pt x="2075618" y="379026"/>
                </a:lnTo>
                <a:lnTo>
                  <a:pt x="0" y="379026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5775" y="4696882"/>
            <a:ext cx="2093667" cy="32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5612" y="5238348"/>
            <a:ext cx="5270265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Равные приращения = равные 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кратные</a:t>
            </a: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изменения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2685" y="5590300"/>
            <a:ext cx="5143923" cy="920491"/>
          </a:xfrm>
          <a:custGeom>
            <a:avLst/>
            <a:gdLst/>
            <a:ahLst/>
            <a:cxnLst/>
            <a:rect l="l" t="t" r="r" b="b"/>
            <a:pathLst>
              <a:path w="5143923" h="920491">
                <a:moveTo>
                  <a:pt x="0" y="0"/>
                </a:moveTo>
                <a:lnTo>
                  <a:pt x="5143923" y="0"/>
                </a:lnTo>
                <a:lnTo>
                  <a:pt x="5143923" y="920491"/>
                </a:lnTo>
                <a:lnTo>
                  <a:pt x="0" y="9204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052" y="5725667"/>
            <a:ext cx="4945386" cy="64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 дБ / 60 дБ =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10× энергии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 дБ / 70 дБ =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10× энергии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Разница в 10 раз!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195762" y="1168332"/>
            <a:ext cx="5613193" cy="5577096"/>
          </a:xfrm>
          <a:custGeom>
            <a:avLst/>
            <a:gdLst/>
            <a:ahLst/>
            <a:cxnLst/>
            <a:rect l="l" t="t" r="r" b="b"/>
            <a:pathLst>
              <a:path w="5613193" h="3483429">
                <a:moveTo>
                  <a:pt x="0" y="0"/>
                </a:moveTo>
                <a:lnTo>
                  <a:pt x="5613193" y="0"/>
                </a:lnTo>
                <a:lnTo>
                  <a:pt x="5613193" y="3483429"/>
                </a:lnTo>
                <a:lnTo>
                  <a:pt x="0" y="34834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2195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290025" y="1383406"/>
            <a:ext cx="5306363" cy="288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Практический вывод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6367227" y="1818846"/>
            <a:ext cx="5143923" cy="1075661"/>
          </a:xfrm>
          <a:custGeom>
            <a:avLst/>
            <a:gdLst/>
            <a:ahLst/>
            <a:cxnLst/>
            <a:rect l="l" t="t" r="r" b="b"/>
            <a:pathLst>
              <a:path w="5143923" h="703905">
                <a:moveTo>
                  <a:pt x="0" y="0"/>
                </a:moveTo>
                <a:lnTo>
                  <a:pt x="5143923" y="0"/>
                </a:lnTo>
                <a:lnTo>
                  <a:pt x="5143923" y="703905"/>
                </a:lnTo>
                <a:lnTo>
                  <a:pt x="0" y="70390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02594" y="1954212"/>
            <a:ext cx="494538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❌ Нельзя: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502594" y="2327072"/>
            <a:ext cx="4945386" cy="216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88 дБ + 88 дБ = 176 дБ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367227" y="3065972"/>
            <a:ext cx="5143923" cy="3444819"/>
          </a:xfrm>
          <a:custGeom>
            <a:avLst/>
            <a:gdLst/>
            <a:ahLst/>
            <a:cxnLst/>
            <a:rect l="l" t="t" r="r" b="b"/>
            <a:pathLst>
              <a:path w="5143923" h="920491">
                <a:moveTo>
                  <a:pt x="0" y="0"/>
                </a:moveTo>
                <a:lnTo>
                  <a:pt x="5143923" y="0"/>
                </a:lnTo>
                <a:lnTo>
                  <a:pt x="5143923" y="920491"/>
                </a:lnTo>
                <a:lnTo>
                  <a:pt x="0" y="920491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65764" y="3173507"/>
            <a:ext cx="4945386" cy="320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Несколько слабых источников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могут в сумме дать заметную нагрузку. </a:t>
            </a: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Два близких по уровню источника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способны увеличить общий шум сильнее, чем кажется на первый взгляд.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644" y="326644"/>
            <a:ext cx="457302" cy="457302"/>
          </a:xfrm>
          <a:custGeom>
            <a:avLst/>
            <a:gdLst/>
            <a:ahLst/>
            <a:cxnLst/>
            <a:rect l="l" t="t" r="r" b="b"/>
            <a:pathLst>
              <a:path w="457302" h="457302">
                <a:moveTo>
                  <a:pt x="0" y="0"/>
                </a:moveTo>
                <a:lnTo>
                  <a:pt x="457302" y="0"/>
                </a:lnTo>
                <a:lnTo>
                  <a:pt x="457302" y="457302"/>
                </a:lnTo>
                <a:lnTo>
                  <a:pt x="0" y="4573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7648" y="326644"/>
            <a:ext cx="555295" cy="45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604" y="391973"/>
            <a:ext cx="7847630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ОСНОВНАЯ ФОРМУЛА СЛОЖЕНИЯ УРОВНЕЙ ШУМА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1143" y="939102"/>
            <a:ext cx="5659113" cy="3217447"/>
          </a:xfrm>
          <a:custGeom>
            <a:avLst/>
            <a:gdLst/>
            <a:ahLst/>
            <a:cxnLst/>
            <a:rect l="l" t="t" r="r" b="b"/>
            <a:pathLst>
              <a:path w="5659113" h="3217447">
                <a:moveTo>
                  <a:pt x="0" y="0"/>
                </a:moveTo>
                <a:lnTo>
                  <a:pt x="5659113" y="0"/>
                </a:lnTo>
                <a:lnTo>
                  <a:pt x="5659113" y="3217447"/>
                </a:lnTo>
                <a:lnTo>
                  <a:pt x="0" y="32174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5329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8963" y="1126923"/>
            <a:ext cx="538146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Общая формула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3461" y="1543395"/>
            <a:ext cx="5234476" cy="669621"/>
          </a:xfrm>
          <a:custGeom>
            <a:avLst/>
            <a:gdLst/>
            <a:ahLst/>
            <a:cxnLst/>
            <a:rect l="l" t="t" r="r" b="b"/>
            <a:pathLst>
              <a:path w="5234476" h="669621">
                <a:moveTo>
                  <a:pt x="0" y="0"/>
                </a:moveTo>
                <a:lnTo>
                  <a:pt x="5234476" y="0"/>
                </a:lnTo>
                <a:lnTo>
                  <a:pt x="5234476" y="669621"/>
                </a:lnTo>
                <a:lnTo>
                  <a:pt x="0" y="6696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690036" y="1731215"/>
                <a:ext cx="4981326" cy="2939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929" b="1" dirty="0">
                    <a:solidFill>
                      <a:srgbClr val="FFFFFF"/>
                    </a:solidFill>
                    <a:latin typeface="Noto Sans SC" pitchFamily="34" charset="0"/>
                    <a:ea typeface="Noto Sans SC" pitchFamily="34" charset="-122"/>
                    <a:cs typeface="Noto Sans SC" pitchFamily="34" charset="-120"/>
                  </a:rPr>
                  <a:t>L = 10·log₁₀</a:t>
                </a:r>
                <a:r>
                  <a:rPr lang="en-US" sz="1929" b="1" baseline="30000" dirty="0">
                    <a:solidFill>
                      <a:srgbClr val="FFFFFF"/>
                    </a:solidFill>
                    <a:latin typeface="Noto Sans SC" pitchFamily="34" charset="0"/>
                    <a:ea typeface="Noto Sans SC" pitchFamily="34" charset="-122"/>
                    <a:cs typeface="Noto Sans SC" pitchFamily="34" charset="-12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929" b="1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Noto Sans SC" pitchFamily="34" charset="-122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sz="1929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Noto Sans SC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929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Noto Sans SC" pitchFamily="34" charset="-122"/>
                          </a:rPr>
                          <m:t>𝒊</m:t>
                        </m:r>
                      </m:sub>
                      <m:sup>
                        <m:r>
                          <a:rPr lang="en-US" sz="1929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Noto Sans SC" pitchFamily="34" charset="-122"/>
                          </a:rPr>
                          <m:t>𝒏</m:t>
                        </m:r>
                      </m:sup>
                      <m:e>
                        <m:r>
                          <m:rPr>
                            <m:nor/>
                          </m:rPr>
                          <a:rPr lang="en-US" sz="1929" b="1" dirty="0" smtClean="0">
                            <a:solidFill>
                              <a:srgbClr val="FFFFFF"/>
                            </a:solidFill>
                            <a:latin typeface="Noto Sans SC" pitchFamily="34" charset="0"/>
                            <a:ea typeface="Noto Sans SC" pitchFamily="34" charset="-122"/>
                            <a:cs typeface="Noto Sans SC" pitchFamily="34" charset="-120"/>
                          </a:rPr>
                          <m:t>10^(</m:t>
                        </m:r>
                        <m:r>
                          <m:rPr>
                            <m:nor/>
                          </m:rPr>
                          <a:rPr lang="en-US" sz="1929" b="1" dirty="0" smtClean="0">
                            <a:solidFill>
                              <a:srgbClr val="FFFFFF"/>
                            </a:solidFill>
                            <a:latin typeface="Noto Sans SC" pitchFamily="34" charset="0"/>
                            <a:ea typeface="Noto Sans SC" pitchFamily="34" charset="-122"/>
                            <a:cs typeface="Noto Sans SC" pitchFamily="34" charset="-120"/>
                          </a:rPr>
                          <m:t>Li</m:t>
                        </m:r>
                        <m:r>
                          <m:rPr>
                            <m:nor/>
                          </m:rPr>
                          <a:rPr lang="en-US" sz="1929" b="1" dirty="0" smtClean="0">
                            <a:solidFill>
                              <a:srgbClr val="FFFFFF"/>
                            </a:solidFill>
                            <a:latin typeface="Noto Sans SC" pitchFamily="34" charset="0"/>
                            <a:ea typeface="Noto Sans SC" pitchFamily="34" charset="-122"/>
                            <a:cs typeface="Noto Sans SC" pitchFamily="34" charset="-120"/>
                          </a:rPr>
                          <m:t>/10))</m:t>
                        </m:r>
                      </m:e>
                    </m:nary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36" y="1731215"/>
                <a:ext cx="4981326" cy="293980"/>
              </a:xfrm>
              <a:prstGeom prst="rect">
                <a:avLst/>
              </a:prstGeom>
              <a:blipFill>
                <a:blip r:embed="rId3"/>
                <a:stretch>
                  <a:fillRect t="-158333" b="-245833"/>
                </a:stretch>
              </a:blipFill>
              <a:ln/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563461" y="2392670"/>
            <a:ext cx="5234476" cy="440970"/>
          </a:xfrm>
          <a:custGeom>
            <a:avLst/>
            <a:gdLst/>
            <a:ahLst/>
            <a:cxnLst/>
            <a:rect l="l" t="t" r="r" b="b"/>
            <a:pathLst>
              <a:path w="5234476" h="440970">
                <a:moveTo>
                  <a:pt x="0" y="0"/>
                </a:moveTo>
                <a:lnTo>
                  <a:pt x="5234476" y="0"/>
                </a:lnTo>
                <a:lnTo>
                  <a:pt x="5234476" y="440970"/>
                </a:lnTo>
                <a:lnTo>
                  <a:pt x="0" y="44097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953" y="2515161"/>
            <a:ext cx="496820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общий уровень шума (дБ)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3461" y="2947965"/>
            <a:ext cx="5234476" cy="440970"/>
          </a:xfrm>
          <a:custGeom>
            <a:avLst/>
            <a:gdLst/>
            <a:ahLst/>
            <a:cxnLst/>
            <a:rect l="l" t="t" r="r" b="b"/>
            <a:pathLst>
              <a:path w="5234476" h="440970">
                <a:moveTo>
                  <a:pt x="0" y="0"/>
                </a:moveTo>
                <a:lnTo>
                  <a:pt x="5234476" y="0"/>
                </a:lnTo>
                <a:lnTo>
                  <a:pt x="5234476" y="440970"/>
                </a:lnTo>
                <a:lnTo>
                  <a:pt x="0" y="44097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953" y="3070457"/>
            <a:ext cx="496820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уровни отдельных источников (дБ)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3461" y="3503261"/>
            <a:ext cx="5234476" cy="440970"/>
          </a:xfrm>
          <a:custGeom>
            <a:avLst/>
            <a:gdLst/>
            <a:ahLst/>
            <a:cxnLst/>
            <a:rect l="l" t="t" r="r" b="b"/>
            <a:pathLst>
              <a:path w="5234476" h="440970">
                <a:moveTo>
                  <a:pt x="0" y="0"/>
                </a:moveTo>
                <a:lnTo>
                  <a:pt x="5234476" y="0"/>
                </a:lnTo>
                <a:lnTo>
                  <a:pt x="5234476" y="440970"/>
                </a:lnTo>
                <a:lnTo>
                  <a:pt x="0" y="44097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953" y="3625752"/>
            <a:ext cx="496820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количество источников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1143" y="4336204"/>
            <a:ext cx="5659113" cy="2433500"/>
          </a:xfrm>
          <a:custGeom>
            <a:avLst/>
            <a:gdLst/>
            <a:ahLst/>
            <a:cxnLst/>
            <a:rect l="l" t="t" r="r" b="b"/>
            <a:pathLst>
              <a:path w="5659113" h="2433500">
                <a:moveTo>
                  <a:pt x="0" y="0"/>
                </a:moveTo>
                <a:lnTo>
                  <a:pt x="5659113" y="0"/>
                </a:lnTo>
                <a:lnTo>
                  <a:pt x="5659113" y="2433500"/>
                </a:lnTo>
                <a:lnTo>
                  <a:pt x="0" y="243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5329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8963" y="4524024"/>
            <a:ext cx="538146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Смысл формулы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3461" y="4907831"/>
            <a:ext cx="277648" cy="277648"/>
          </a:xfrm>
          <a:custGeom>
            <a:avLst/>
            <a:gdLst/>
            <a:ahLst/>
            <a:cxnLst/>
            <a:rect l="l" t="t" r="r" b="b"/>
            <a:pathLst>
              <a:path w="277648" h="277648">
                <a:moveTo>
                  <a:pt x="0" y="0"/>
                </a:moveTo>
                <a:lnTo>
                  <a:pt x="277648" y="0"/>
                </a:lnTo>
                <a:lnTo>
                  <a:pt x="277648" y="277648"/>
                </a:lnTo>
                <a:lnTo>
                  <a:pt x="0" y="277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133" y="4883333"/>
            <a:ext cx="31031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3601" y="4948662"/>
            <a:ext cx="4834336" cy="23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Переводим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каждый уровень из децибел в линейную </a:t>
            </a:r>
            <a:r>
              <a:rPr lang="en-US" sz="125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шкалу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10^(Li/10)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3461" y="5299804"/>
            <a:ext cx="277648" cy="277648"/>
          </a:xfrm>
          <a:custGeom>
            <a:avLst/>
            <a:gdLst/>
            <a:ahLst/>
            <a:cxnLst/>
            <a:rect l="l" t="t" r="r" b="b"/>
            <a:pathLst>
              <a:path w="277648" h="277648">
                <a:moveTo>
                  <a:pt x="0" y="0"/>
                </a:moveTo>
                <a:lnTo>
                  <a:pt x="277648" y="0"/>
                </a:lnTo>
                <a:lnTo>
                  <a:pt x="277648" y="277648"/>
                </a:lnTo>
                <a:lnTo>
                  <a:pt x="0" y="277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133" y="5275306"/>
            <a:ext cx="31031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3601" y="5312401"/>
            <a:ext cx="4480316" cy="23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Складываем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энергетические вклады всех источников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3461" y="5691778"/>
            <a:ext cx="277648" cy="277648"/>
          </a:xfrm>
          <a:custGeom>
            <a:avLst/>
            <a:gdLst/>
            <a:ahLst/>
            <a:cxnLst/>
            <a:rect l="l" t="t" r="r" b="b"/>
            <a:pathLst>
              <a:path w="277648" h="277648">
                <a:moveTo>
                  <a:pt x="0" y="0"/>
                </a:moveTo>
                <a:lnTo>
                  <a:pt x="277648" y="0"/>
                </a:lnTo>
                <a:lnTo>
                  <a:pt x="277648" y="277648"/>
                </a:lnTo>
                <a:lnTo>
                  <a:pt x="0" y="277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133" y="5667279"/>
            <a:ext cx="31031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3601" y="5732608"/>
            <a:ext cx="4480316" cy="138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Переводим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результат обратно в децибелы: 10·log₁₀(...)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3461" y="6116415"/>
            <a:ext cx="5234476" cy="440970"/>
          </a:xfrm>
          <a:custGeom>
            <a:avLst/>
            <a:gdLst/>
            <a:ahLst/>
            <a:cxnLst/>
            <a:rect l="l" t="t" r="r" b="b"/>
            <a:pathLst>
              <a:path w="5234476" h="440970">
                <a:moveTo>
                  <a:pt x="0" y="0"/>
                </a:moveTo>
                <a:lnTo>
                  <a:pt x="5234476" y="0"/>
                </a:lnTo>
                <a:lnTo>
                  <a:pt x="5234476" y="440970"/>
                </a:lnTo>
                <a:lnTo>
                  <a:pt x="0" y="44097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953" y="6149081"/>
            <a:ext cx="5111984" cy="367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Энергетическое, а не арифметическое сложение!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87167" y="939102"/>
            <a:ext cx="5659113" cy="3380769"/>
          </a:xfrm>
          <a:custGeom>
            <a:avLst/>
            <a:gdLst/>
            <a:ahLst/>
            <a:cxnLst/>
            <a:rect l="l" t="t" r="r" b="b"/>
            <a:pathLst>
              <a:path w="5659113" h="3380769">
                <a:moveTo>
                  <a:pt x="0" y="0"/>
                </a:moveTo>
                <a:lnTo>
                  <a:pt x="5659113" y="0"/>
                </a:lnTo>
                <a:lnTo>
                  <a:pt x="5659113" y="3380769"/>
                </a:lnTo>
                <a:lnTo>
                  <a:pt x="0" y="33807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5329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74987" y="1126923"/>
            <a:ext cx="538146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Формула для двух источников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9486" y="1543395"/>
            <a:ext cx="5234476" cy="571628"/>
          </a:xfrm>
          <a:custGeom>
            <a:avLst/>
            <a:gdLst/>
            <a:ahLst/>
            <a:cxnLst/>
            <a:rect l="l" t="t" r="r" b="b"/>
            <a:pathLst>
              <a:path w="5234476" h="571628">
                <a:moveTo>
                  <a:pt x="0" y="0"/>
                </a:moveTo>
                <a:lnTo>
                  <a:pt x="5234476" y="0"/>
                </a:lnTo>
                <a:lnTo>
                  <a:pt x="5234476" y="571628"/>
                </a:lnTo>
                <a:lnTo>
                  <a:pt x="0" y="5716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5645" y="1698551"/>
            <a:ext cx="502215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43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 = 10·log₁₀(10^(L₁/10) + 10^(L₂/10))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9486" y="2294676"/>
            <a:ext cx="5234476" cy="1812876"/>
          </a:xfrm>
          <a:custGeom>
            <a:avLst/>
            <a:gdLst/>
            <a:ahLst/>
            <a:cxnLst/>
            <a:rect l="l" t="t" r="r" b="b"/>
            <a:pathLst>
              <a:path w="5234476" h="1812876">
                <a:moveTo>
                  <a:pt x="0" y="0"/>
                </a:moveTo>
                <a:lnTo>
                  <a:pt x="5234476" y="0"/>
                </a:lnTo>
                <a:lnTo>
                  <a:pt x="5234476" y="1812876"/>
                </a:lnTo>
                <a:lnTo>
                  <a:pt x="0" y="181287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54642" y="2449833"/>
            <a:ext cx="490399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Пример расчета: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54642" y="2711148"/>
            <a:ext cx="490399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L₁ = 90 дБ, L₂ = 87 дБ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54642" y="2972463"/>
            <a:ext cx="490399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 = 10·log₁₀(10⁹ + 10^8.7)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4642" y="3233779"/>
            <a:ext cx="490399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 = 10·log₁₀(10⁹ + 5.01×10⁸)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54642" y="3495094"/>
            <a:ext cx="490399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 = 10·log₁₀(1.501×10⁹)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54642" y="3756410"/>
            <a:ext cx="4903997" cy="130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 ≈ 91.8 дБ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7167" y="4499526"/>
            <a:ext cx="5659113" cy="2270178"/>
          </a:xfrm>
          <a:custGeom>
            <a:avLst/>
            <a:gdLst/>
            <a:ahLst/>
            <a:cxnLst/>
            <a:rect l="l" t="t" r="r" b="b"/>
            <a:pathLst>
              <a:path w="5659113" h="2270178">
                <a:moveTo>
                  <a:pt x="0" y="0"/>
                </a:moveTo>
                <a:lnTo>
                  <a:pt x="5659113" y="0"/>
                </a:lnTo>
                <a:lnTo>
                  <a:pt x="5659113" y="2270178"/>
                </a:lnTo>
                <a:lnTo>
                  <a:pt x="0" y="22701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5329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99486" y="4752675"/>
            <a:ext cx="5234476" cy="1020764"/>
          </a:xfrm>
          <a:custGeom>
            <a:avLst/>
            <a:gdLst/>
            <a:ahLst/>
            <a:cxnLst/>
            <a:rect l="l" t="t" r="r" b="b"/>
            <a:pathLst>
              <a:path w="5234476" h="702285">
                <a:moveTo>
                  <a:pt x="0" y="0"/>
                </a:moveTo>
                <a:lnTo>
                  <a:pt x="5234476" y="0"/>
                </a:lnTo>
                <a:lnTo>
                  <a:pt x="5234476" y="702285"/>
                </a:lnTo>
                <a:lnTo>
                  <a:pt x="0" y="70228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05646" y="4883333"/>
            <a:ext cx="4952994" cy="783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Итоговый уровень 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всегда немного превышает</a:t>
            </a: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уровень более громкого источника, но 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равен арифметической сумме</a:t>
            </a: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399486" y="5920429"/>
            <a:ext cx="5234476" cy="636956"/>
          </a:xfrm>
          <a:custGeom>
            <a:avLst/>
            <a:gdLst/>
            <a:ahLst/>
            <a:cxnLst/>
            <a:rect l="l" t="t" r="r" b="b"/>
            <a:pathLst>
              <a:path w="5234476" h="440970">
                <a:moveTo>
                  <a:pt x="0" y="0"/>
                </a:moveTo>
                <a:lnTo>
                  <a:pt x="5234476" y="0"/>
                </a:lnTo>
                <a:lnTo>
                  <a:pt x="5234476" y="440970"/>
                </a:lnTo>
                <a:lnTo>
                  <a:pt x="0" y="440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05645" y="5953094"/>
            <a:ext cx="4984540" cy="604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Это базовая формула, на которой построены все практические правила.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22606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69875" y="22606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9000" y="299720"/>
            <a:ext cx="8413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ОДИНАКОВЫЕ ИСТОЧНИКИ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313" y="892493"/>
            <a:ext cx="5667375" cy="2587625"/>
          </a:xfrm>
          <a:custGeom>
            <a:avLst/>
            <a:gdLst/>
            <a:ahLst/>
            <a:cxnLst/>
            <a:rect l="l" t="t" r="r" b="b"/>
            <a:pathLst>
              <a:path w="5667375" h="2587625">
                <a:moveTo>
                  <a:pt x="0" y="0"/>
                </a:moveTo>
                <a:lnTo>
                  <a:pt x="5667375" y="0"/>
                </a:lnTo>
                <a:lnTo>
                  <a:pt x="5667375" y="2587625"/>
                </a:lnTo>
                <a:lnTo>
                  <a:pt x="0" y="258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075055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Формула для одинаковых источников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7688" y="1479868"/>
            <a:ext cx="5254625" cy="650875"/>
          </a:xfrm>
          <a:custGeom>
            <a:avLst/>
            <a:gdLst/>
            <a:ahLst/>
            <a:cxnLst/>
            <a:rect l="l" t="t" r="r" b="b"/>
            <a:pathLst>
              <a:path w="5254625" h="650875">
                <a:moveTo>
                  <a:pt x="0" y="0"/>
                </a:moveTo>
                <a:lnTo>
                  <a:pt x="5254625" y="0"/>
                </a:lnTo>
                <a:lnTo>
                  <a:pt x="5254625" y="650875"/>
                </a:lnTo>
                <a:lnTo>
                  <a:pt x="0" y="650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719" y="1662430"/>
            <a:ext cx="5008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 = L₁ + 10·log₁₀(n)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688" y="230536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" y="242443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L₁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уровень одного источника (дБ)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7688" y="284511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6750" y="296418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количество источников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1313" y="3654745"/>
            <a:ext cx="5667375" cy="2898456"/>
          </a:xfrm>
          <a:custGeom>
            <a:avLst/>
            <a:gdLst/>
            <a:ahLst/>
            <a:cxnLst/>
            <a:rect l="l" t="t" r="r" b="b"/>
            <a:pathLst>
              <a:path w="5667375" h="3889375">
                <a:moveTo>
                  <a:pt x="0" y="0"/>
                </a:moveTo>
                <a:lnTo>
                  <a:pt x="5667375" y="0"/>
                </a:lnTo>
                <a:lnTo>
                  <a:pt x="5667375" y="3889375"/>
                </a:lnTo>
                <a:lnTo>
                  <a:pt x="0" y="3889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3875" y="3837305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Мнемоническое правило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7688" y="4210368"/>
            <a:ext cx="5254625" cy="523875"/>
          </a:xfrm>
          <a:custGeom>
            <a:avLst/>
            <a:gdLst/>
            <a:ahLst/>
            <a:cxnLst/>
            <a:rect l="l" t="t" r="r" b="b"/>
            <a:pathLst>
              <a:path w="5254625" h="523875">
                <a:moveTo>
                  <a:pt x="0" y="0"/>
                </a:moveTo>
                <a:lnTo>
                  <a:pt x="5254625" y="0"/>
                </a:lnTo>
                <a:lnTo>
                  <a:pt x="525462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813" y="4361180"/>
            <a:ext cx="503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Каждое УДВОЕНИЕ = +3 дБ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7688" y="487711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750" y="499618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источника →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+3 дБ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7688" y="541686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750" y="553593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источника →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+6 дБ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(+3+3)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7688" y="595661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6750" y="607568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источников →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+9 дБ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(+3+3+3)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83313" y="892494"/>
            <a:ext cx="5667375" cy="2628265"/>
          </a:xfrm>
          <a:custGeom>
            <a:avLst/>
            <a:gdLst/>
            <a:ahLst/>
            <a:cxnLst/>
            <a:rect l="l" t="t" r="r" b="b"/>
            <a:pathLst>
              <a:path w="5667375" h="3603625">
                <a:moveTo>
                  <a:pt x="0" y="0"/>
                </a:moveTo>
                <a:lnTo>
                  <a:pt x="5667375" y="0"/>
                </a:lnTo>
                <a:lnTo>
                  <a:pt x="5667375" y="3603625"/>
                </a:lnTo>
                <a:lnTo>
                  <a:pt x="0" y="3603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65875" y="1075055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Таблица прибавок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89688" y="1418908"/>
            <a:ext cx="5254625" cy="33337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7000" y="1497330"/>
            <a:ext cx="169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Кол-во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70292" y="1497330"/>
            <a:ext cx="169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Прибавка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63646" y="1497330"/>
            <a:ext cx="169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log₁₀(n)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89688" y="1897698"/>
            <a:ext cx="5254625" cy="365125"/>
          </a:xfrm>
          <a:custGeom>
            <a:avLst/>
            <a:gdLst/>
            <a:ahLst/>
            <a:cxnLst/>
            <a:rect l="l" t="t" r="r" b="b"/>
            <a:pathLst>
              <a:path w="5254625" h="365125">
                <a:moveTo>
                  <a:pt x="0" y="0"/>
                </a:moveTo>
                <a:lnTo>
                  <a:pt x="5254625" y="0"/>
                </a:lnTo>
                <a:lnTo>
                  <a:pt x="5254625" y="365125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5250" y="198501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159750" y="198501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≈3.0 дБ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74250" y="198501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0.30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89688" y="2373948"/>
            <a:ext cx="5254625" cy="365125"/>
          </a:xfrm>
          <a:custGeom>
            <a:avLst/>
            <a:gdLst/>
            <a:ahLst/>
            <a:cxnLst/>
            <a:rect l="l" t="t" r="r" b="b"/>
            <a:pathLst>
              <a:path w="5254625" h="365125">
                <a:moveTo>
                  <a:pt x="0" y="0"/>
                </a:moveTo>
                <a:lnTo>
                  <a:pt x="5254625" y="0"/>
                </a:lnTo>
                <a:lnTo>
                  <a:pt x="5254625" y="365125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5250" y="246126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159750" y="246126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≈4.8 дБ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874250" y="246126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0.48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89688" y="2888297"/>
            <a:ext cx="5254625" cy="365125"/>
          </a:xfrm>
          <a:custGeom>
            <a:avLst/>
            <a:gdLst/>
            <a:ahLst/>
            <a:cxnLst/>
            <a:rect l="l" t="t" r="r" b="b"/>
            <a:pathLst>
              <a:path w="5254625" h="365125">
                <a:moveTo>
                  <a:pt x="0" y="0"/>
                </a:moveTo>
                <a:lnTo>
                  <a:pt x="5254625" y="0"/>
                </a:lnTo>
                <a:lnTo>
                  <a:pt x="5254625" y="365125"/>
                </a:lnTo>
                <a:lnTo>
                  <a:pt x="0" y="365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5250" y="297561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159750" y="297561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≈10.0 дБ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874250" y="297561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1.00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183312" y="3674114"/>
            <a:ext cx="5667375" cy="2879087"/>
          </a:xfrm>
          <a:custGeom>
            <a:avLst/>
            <a:gdLst/>
            <a:ahLst/>
            <a:cxnLst/>
            <a:rect l="l" t="t" r="r" b="b"/>
            <a:pathLst>
              <a:path w="5667375" h="2873375">
                <a:moveTo>
                  <a:pt x="0" y="0"/>
                </a:moveTo>
                <a:lnTo>
                  <a:pt x="5667375" y="0"/>
                </a:lnTo>
                <a:lnTo>
                  <a:pt x="5667375" y="2873375"/>
                </a:lnTo>
                <a:lnTo>
                  <a:pt x="0" y="2873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65874" y="3815716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Пример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89687" y="4188779"/>
            <a:ext cx="5254625" cy="1539875"/>
          </a:xfrm>
          <a:custGeom>
            <a:avLst/>
            <a:gdLst/>
            <a:ahLst/>
            <a:cxnLst/>
            <a:rect l="l" t="t" r="r" b="b"/>
            <a:pathLst>
              <a:path w="5254625" h="1539875">
                <a:moveTo>
                  <a:pt x="0" y="0"/>
                </a:moveTo>
                <a:lnTo>
                  <a:pt x="5254625" y="0"/>
                </a:lnTo>
                <a:lnTo>
                  <a:pt x="5254625" y="1539875"/>
                </a:lnTo>
                <a:lnTo>
                  <a:pt x="0" y="15398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40499" y="4339591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одинаковых машин по 85 дБ каждая: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540499" y="4593591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 = 85 + 10·log₁₀(8)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540499" y="4847591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 = 85 + 10·0.90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540499" y="5101591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 = 85 + 9.0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6540499" y="5355591"/>
            <a:ext cx="503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 = 94 дБ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389687" y="5871529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08749" y="5990591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Вывод: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восемь машин громче одной на 9 дБ, а не в 8 раз!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69875" y="317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9000" y="381000"/>
            <a:ext cx="75485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РАЗНЫЕ ИСТОЧНИКИ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313" y="912813"/>
            <a:ext cx="5667375" cy="3603625"/>
          </a:xfrm>
          <a:custGeom>
            <a:avLst/>
            <a:gdLst/>
            <a:ahLst/>
            <a:cxnLst/>
            <a:rect l="l" t="t" r="r" b="b"/>
            <a:pathLst>
              <a:path w="5667375" h="3603625">
                <a:moveTo>
                  <a:pt x="0" y="0"/>
                </a:moveTo>
                <a:lnTo>
                  <a:pt x="5667375" y="0"/>
                </a:lnTo>
                <a:lnTo>
                  <a:pt x="5667375" y="3603625"/>
                </a:lnTo>
                <a:lnTo>
                  <a:pt x="0" y="3603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095375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Правило для двух источников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7688" y="1500188"/>
            <a:ext cx="5254625" cy="587375"/>
          </a:xfrm>
          <a:custGeom>
            <a:avLst/>
            <a:gdLst/>
            <a:ahLst/>
            <a:cxnLst/>
            <a:rect l="l" t="t" r="r" b="b"/>
            <a:pathLst>
              <a:path w="5254625" h="587375">
                <a:moveTo>
                  <a:pt x="0" y="0"/>
                </a:moveTo>
                <a:lnTo>
                  <a:pt x="5254625" y="0"/>
                </a:lnTo>
                <a:lnTo>
                  <a:pt x="5254625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8500" y="1651000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разница между уровнями источников: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7688" y="226218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" y="2381249"/>
            <a:ext cx="73533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0-1 дБ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88081" y="2381250"/>
            <a:ext cx="2058049" cy="20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прибавка ≈ </a:t>
            </a: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дБ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7688" y="280193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1E2939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" y="2920999"/>
            <a:ext cx="86741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2-4 дБ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88081" y="2921000"/>
            <a:ext cx="2058049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прибавка ≈ </a:t>
            </a: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дБ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7688" y="334168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50" y="3430269"/>
            <a:ext cx="86741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5-9 дБ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88081" y="3460750"/>
            <a:ext cx="2058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прибавка ≈ </a:t>
            </a: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дБ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7688" y="388143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750" y="4000500"/>
            <a:ext cx="735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≥10 дБ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88081" y="4000500"/>
            <a:ext cx="2057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вклад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 учитывается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1313" y="4691063"/>
            <a:ext cx="5667375" cy="1849437"/>
          </a:xfrm>
          <a:custGeom>
            <a:avLst/>
            <a:gdLst/>
            <a:ahLst/>
            <a:cxnLst/>
            <a:rect l="l" t="t" r="r" b="b"/>
            <a:pathLst>
              <a:path w="5667375" h="4905375">
                <a:moveTo>
                  <a:pt x="0" y="0"/>
                </a:moveTo>
                <a:lnTo>
                  <a:pt x="5667375" y="0"/>
                </a:lnTo>
                <a:lnTo>
                  <a:pt x="5667375" y="4905375"/>
                </a:lnTo>
                <a:lnTo>
                  <a:pt x="0" y="4905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875" y="4873625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Практическая значимость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7688" y="5246688"/>
            <a:ext cx="5254625" cy="1143952"/>
          </a:xfrm>
          <a:custGeom>
            <a:avLst/>
            <a:gdLst/>
            <a:ahLst/>
            <a:cxnLst/>
            <a:rect l="l" t="t" r="r" b="b"/>
            <a:pathLst>
              <a:path w="5254625" h="714375">
                <a:moveTo>
                  <a:pt x="0" y="0"/>
                </a:moveTo>
                <a:lnTo>
                  <a:pt x="5254625" y="0"/>
                </a:lnTo>
                <a:lnTo>
                  <a:pt x="525462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500" y="5397500"/>
            <a:ext cx="5016500" cy="87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Если один источник </a:t>
            </a: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заметно громче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другого, общий уровень </a:t>
            </a: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почти совпадает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уровнем более громкого источника.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3313" y="912813"/>
            <a:ext cx="5667375" cy="5627687"/>
          </a:xfrm>
          <a:custGeom>
            <a:avLst/>
            <a:gdLst/>
            <a:ahLst/>
            <a:cxnLst/>
            <a:rect l="l" t="t" r="r" b="b"/>
            <a:pathLst>
              <a:path w="5667375" h="4714875">
                <a:moveTo>
                  <a:pt x="0" y="0"/>
                </a:moveTo>
                <a:lnTo>
                  <a:pt x="5667375" y="0"/>
                </a:lnTo>
                <a:lnTo>
                  <a:pt x="566737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65875" y="1095375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Примеры расчетов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9688" y="1500188"/>
            <a:ext cx="5254625" cy="873125"/>
          </a:xfrm>
          <a:custGeom>
            <a:avLst/>
            <a:gdLst/>
            <a:ahLst/>
            <a:cxnLst/>
            <a:rect l="l" t="t" r="r" b="b"/>
            <a:pathLst>
              <a:path w="5254625" h="873125">
                <a:moveTo>
                  <a:pt x="0" y="0"/>
                </a:moveTo>
                <a:lnTo>
                  <a:pt x="5254625" y="0"/>
                </a:lnTo>
                <a:lnTo>
                  <a:pt x="5254625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8750" y="16192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 дБ + 89 дБ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08750" y="18415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Разница: 1 дБ → прибавка ≈3 дБ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08750" y="20637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 ≈93 дБ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89688" y="2516188"/>
            <a:ext cx="5254625" cy="873125"/>
          </a:xfrm>
          <a:custGeom>
            <a:avLst/>
            <a:gdLst/>
            <a:ahLst/>
            <a:cxnLst/>
            <a:rect l="l" t="t" r="r" b="b"/>
            <a:pathLst>
              <a:path w="5254625" h="873125">
                <a:moveTo>
                  <a:pt x="0" y="0"/>
                </a:moveTo>
                <a:lnTo>
                  <a:pt x="5254625" y="0"/>
                </a:lnTo>
                <a:lnTo>
                  <a:pt x="5254625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8750" y="26352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 дБ + 86 дБ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08750" y="28575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Разница: 4 дБ → прибавка ≈2 дБ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08750" y="30797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 ≈92 дБ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89688" y="3532188"/>
            <a:ext cx="5254625" cy="873125"/>
          </a:xfrm>
          <a:custGeom>
            <a:avLst/>
            <a:gdLst/>
            <a:ahLst/>
            <a:cxnLst/>
            <a:rect l="l" t="t" r="r" b="b"/>
            <a:pathLst>
              <a:path w="5254625" h="873125">
                <a:moveTo>
                  <a:pt x="0" y="0"/>
                </a:moveTo>
                <a:lnTo>
                  <a:pt x="5254625" y="0"/>
                </a:lnTo>
                <a:lnTo>
                  <a:pt x="5254625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8750" y="36512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 дБ + 82 дБ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508750" y="38735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Разница: 8 дБ → прибавка ≈1 дБ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08750" y="40957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 ≈91 дБ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89688" y="4548188"/>
            <a:ext cx="5254625" cy="873125"/>
          </a:xfrm>
          <a:custGeom>
            <a:avLst/>
            <a:gdLst/>
            <a:ahLst/>
            <a:cxnLst/>
            <a:rect l="l" t="t" r="r" b="b"/>
            <a:pathLst>
              <a:path w="5254625" h="873125">
                <a:moveTo>
                  <a:pt x="0" y="0"/>
                </a:moveTo>
                <a:lnTo>
                  <a:pt x="5254625" y="0"/>
                </a:lnTo>
                <a:lnTo>
                  <a:pt x="5254625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08750" y="46672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 дБ + 78 дБ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08750" y="48895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Разница: 12 дБ → вклад незначителен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508750" y="51117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Результат: ≈90 дБ</a:t>
            </a:r>
            <a:endParaRPr lang="en-US" sz="125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69875" y="317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9000" y="381000"/>
            <a:ext cx="942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ПОСЛЕДОВАТЕЛЬНОЕ СЛОЖЕНИЕ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313" y="912813"/>
            <a:ext cx="6803986" cy="2936875"/>
          </a:xfrm>
          <a:custGeom>
            <a:avLst/>
            <a:gdLst/>
            <a:ahLst/>
            <a:cxnLst/>
            <a:rect l="l" t="t" r="r" b="b"/>
            <a:pathLst>
              <a:path w="6834188" h="2936875">
                <a:moveTo>
                  <a:pt x="0" y="0"/>
                </a:moveTo>
                <a:lnTo>
                  <a:pt x="6834188" y="0"/>
                </a:lnTo>
                <a:lnTo>
                  <a:pt x="6834188" y="2936875"/>
                </a:lnTo>
                <a:lnTo>
                  <a:pt x="0" y="2936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095375"/>
            <a:ext cx="6564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Методика для более чем двух источников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7688" y="15001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187" y="14763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23938" y="1500188"/>
            <a:ext cx="5945188" cy="428625"/>
          </a:xfrm>
          <a:custGeom>
            <a:avLst/>
            <a:gdLst/>
            <a:ahLst/>
            <a:cxnLst/>
            <a:rect l="l" t="t" r="r" b="b"/>
            <a:pathLst>
              <a:path w="5945188" h="428625">
                <a:moveTo>
                  <a:pt x="0" y="0"/>
                </a:moveTo>
                <a:lnTo>
                  <a:pt x="5945188" y="0"/>
                </a:lnTo>
                <a:lnTo>
                  <a:pt x="5945188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19250"/>
            <a:ext cx="577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Объединяем два ближайших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 уровню источника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7688" y="2071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187" y="2047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23938" y="2071688"/>
            <a:ext cx="5945188" cy="428625"/>
          </a:xfrm>
          <a:custGeom>
            <a:avLst/>
            <a:gdLst/>
            <a:ahLst/>
            <a:cxnLst/>
            <a:rect l="l" t="t" r="r" b="b"/>
            <a:pathLst>
              <a:path w="5945188" h="428625">
                <a:moveTo>
                  <a:pt x="0" y="0"/>
                </a:moveTo>
                <a:lnTo>
                  <a:pt x="5945188" y="0"/>
                </a:lnTo>
                <a:lnTo>
                  <a:pt x="5945188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190750"/>
            <a:ext cx="577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 полученному результату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прибавляем следующий источник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7688" y="26431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187" y="26193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23938" y="2643188"/>
            <a:ext cx="5945188" cy="428625"/>
          </a:xfrm>
          <a:custGeom>
            <a:avLst/>
            <a:gdLst/>
            <a:ahLst/>
            <a:cxnLst/>
            <a:rect l="l" t="t" r="r" b="b"/>
            <a:pathLst>
              <a:path w="5945188" h="428625">
                <a:moveTo>
                  <a:pt x="0" y="0"/>
                </a:moveTo>
                <a:lnTo>
                  <a:pt x="5945188" y="0"/>
                </a:lnTo>
                <a:lnTo>
                  <a:pt x="5945188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762250"/>
            <a:ext cx="577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Повторяем процедуру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до получения итогового уровня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7688" y="3214688"/>
            <a:ext cx="6421438" cy="428625"/>
          </a:xfrm>
          <a:custGeom>
            <a:avLst/>
            <a:gdLst/>
            <a:ahLst/>
            <a:cxnLst/>
            <a:rect l="l" t="t" r="r" b="b"/>
            <a:pathLst>
              <a:path w="6421438" h="428625">
                <a:moveTo>
                  <a:pt x="0" y="0"/>
                </a:moveTo>
                <a:lnTo>
                  <a:pt x="6421438" y="0"/>
                </a:lnTo>
                <a:lnTo>
                  <a:pt x="6421438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6750" y="3333750"/>
            <a:ext cx="624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Преимущество: быстрая оценка без громоздких вычислений!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1313" y="4024313"/>
            <a:ext cx="6803986" cy="2682875"/>
          </a:xfrm>
          <a:custGeom>
            <a:avLst/>
            <a:gdLst/>
            <a:ahLst/>
            <a:cxnLst/>
            <a:rect l="l" t="t" r="r" b="b"/>
            <a:pathLst>
              <a:path w="6834188" h="2682875">
                <a:moveTo>
                  <a:pt x="0" y="0"/>
                </a:moveTo>
                <a:lnTo>
                  <a:pt x="6834188" y="0"/>
                </a:lnTo>
                <a:lnTo>
                  <a:pt x="6834188" y="2682875"/>
                </a:lnTo>
                <a:lnTo>
                  <a:pt x="0" y="268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875" y="4206875"/>
            <a:ext cx="6564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Пример расчета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7688" y="4611688"/>
            <a:ext cx="6421438" cy="1889125"/>
          </a:xfrm>
          <a:custGeom>
            <a:avLst/>
            <a:gdLst/>
            <a:ahLst/>
            <a:cxnLst/>
            <a:rect l="l" t="t" r="r" b="b"/>
            <a:pathLst>
              <a:path w="6421438" h="1889125">
                <a:moveTo>
                  <a:pt x="0" y="0"/>
                </a:moveTo>
                <a:lnTo>
                  <a:pt x="6421438" y="0"/>
                </a:lnTo>
                <a:lnTo>
                  <a:pt x="6421438" y="1889125"/>
                </a:lnTo>
                <a:lnTo>
                  <a:pt x="0" y="1889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500" y="4762500"/>
            <a:ext cx="618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Три источника: 85 дБ, 88 дБ, 82 дБ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2313" y="5072063"/>
            <a:ext cx="6072188" cy="555625"/>
          </a:xfrm>
          <a:custGeom>
            <a:avLst/>
            <a:gdLst/>
            <a:ahLst/>
            <a:cxnLst/>
            <a:rect l="l" t="t" r="r" b="b"/>
            <a:pathLst>
              <a:path w="6072188" h="555625">
                <a:moveTo>
                  <a:pt x="0" y="0"/>
                </a:moveTo>
                <a:lnTo>
                  <a:pt x="6072188" y="0"/>
                </a:lnTo>
                <a:lnTo>
                  <a:pt x="6072188" y="555625"/>
                </a:lnTo>
                <a:lnTo>
                  <a:pt x="0" y="555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625" y="5159375"/>
            <a:ext cx="596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Шаг 1: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85 дБ + 82 дБ (разница 3 дБ → +2 дБ)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9625" y="5349875"/>
            <a:ext cx="596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 87 дБ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2313" y="5738813"/>
            <a:ext cx="6072188" cy="587375"/>
          </a:xfrm>
          <a:custGeom>
            <a:avLst/>
            <a:gdLst/>
            <a:ahLst/>
            <a:cxnLst/>
            <a:rect l="l" t="t" r="r" b="b"/>
            <a:pathLst>
              <a:path w="6072188" h="587375">
                <a:moveTo>
                  <a:pt x="0" y="0"/>
                </a:moveTo>
                <a:lnTo>
                  <a:pt x="6072188" y="0"/>
                </a:lnTo>
                <a:lnTo>
                  <a:pt x="6072188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625" y="5826125"/>
            <a:ext cx="596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Шаг 2: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88 дБ + 87 дБ (разница 1 дБ → +3 дБ)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9625" y="6016625"/>
            <a:ext cx="5976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 91 дБ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288173" y="912813"/>
            <a:ext cx="4564065" cy="3095625"/>
          </a:xfrm>
          <a:custGeom>
            <a:avLst/>
            <a:gdLst/>
            <a:ahLst/>
            <a:cxnLst/>
            <a:rect l="l" t="t" r="r" b="b"/>
            <a:pathLst>
              <a:path w="4500563" h="3095625">
                <a:moveTo>
                  <a:pt x="0" y="0"/>
                </a:moveTo>
                <a:lnTo>
                  <a:pt x="4500563" y="0"/>
                </a:lnTo>
                <a:lnTo>
                  <a:pt x="4500563" y="3095625"/>
                </a:lnTo>
                <a:lnTo>
                  <a:pt x="0" y="3095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34238" y="1095375"/>
            <a:ext cx="4230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Схема последовательного сложения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43963" y="1500188"/>
            <a:ext cx="714375" cy="428625"/>
          </a:xfrm>
          <a:custGeom>
            <a:avLst/>
            <a:gdLst/>
            <a:ahLst/>
            <a:cxnLst/>
            <a:rect l="l" t="t" r="r" b="b"/>
            <a:pathLst>
              <a:path w="714375" h="428625">
                <a:moveTo>
                  <a:pt x="0" y="0"/>
                </a:moveTo>
                <a:lnTo>
                  <a:pt x="714375" y="0"/>
                </a:lnTo>
                <a:lnTo>
                  <a:pt x="714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8400" y="1476375"/>
            <a:ext cx="730250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 дБ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553525" y="2047875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89578" y="2420938"/>
            <a:ext cx="714375" cy="428625"/>
          </a:xfrm>
          <a:custGeom>
            <a:avLst/>
            <a:gdLst/>
            <a:ahLst/>
            <a:cxnLst/>
            <a:rect l="l" t="t" r="r" b="b"/>
            <a:pathLst>
              <a:path w="714375" h="428625">
                <a:moveTo>
                  <a:pt x="0" y="0"/>
                </a:moveTo>
                <a:lnTo>
                  <a:pt x="714375" y="0"/>
                </a:lnTo>
                <a:lnTo>
                  <a:pt x="714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34016" y="2397125"/>
            <a:ext cx="730250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82 дБ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554766" y="2524125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798286" y="2420938"/>
            <a:ext cx="714375" cy="428625"/>
          </a:xfrm>
          <a:custGeom>
            <a:avLst/>
            <a:gdLst/>
            <a:ahLst/>
            <a:cxnLst/>
            <a:rect l="l" t="t" r="r" b="b"/>
            <a:pathLst>
              <a:path w="714375" h="428625">
                <a:moveTo>
                  <a:pt x="0" y="0"/>
                </a:moveTo>
                <a:lnTo>
                  <a:pt x="714375" y="0"/>
                </a:lnTo>
                <a:lnTo>
                  <a:pt x="714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42723" y="2397125"/>
            <a:ext cx="730250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 дБ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553525" y="2968625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62578" y="3357563"/>
            <a:ext cx="714375" cy="428625"/>
          </a:xfrm>
          <a:custGeom>
            <a:avLst/>
            <a:gdLst/>
            <a:ahLst/>
            <a:cxnLst/>
            <a:rect l="l" t="t" r="r" b="b"/>
            <a:pathLst>
              <a:path w="714375" h="428625">
                <a:moveTo>
                  <a:pt x="0" y="0"/>
                </a:moveTo>
                <a:lnTo>
                  <a:pt x="714375" y="0"/>
                </a:lnTo>
                <a:lnTo>
                  <a:pt x="714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7016" y="3333750"/>
            <a:ext cx="730250" cy="381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30000"/>
              </a:lnSpc>
            </a:pP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88 дБ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427766" y="3460750"/>
            <a:ext cx="17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671286" y="3341688"/>
            <a:ext cx="968375" cy="460375"/>
          </a:xfrm>
          <a:custGeom>
            <a:avLst/>
            <a:gdLst/>
            <a:ahLst/>
            <a:cxnLst/>
            <a:rect l="l" t="t" r="r" b="b"/>
            <a:pathLst>
              <a:path w="968375" h="460375">
                <a:moveTo>
                  <a:pt x="0" y="0"/>
                </a:moveTo>
                <a:lnTo>
                  <a:pt x="968375" y="0"/>
                </a:lnTo>
                <a:lnTo>
                  <a:pt x="968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7786" y="3317875"/>
            <a:ext cx="1000125" cy="4127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91 дБ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294563" y="4183063"/>
            <a:ext cx="4557675" cy="2524125"/>
          </a:xfrm>
          <a:custGeom>
            <a:avLst/>
            <a:gdLst/>
            <a:ahLst/>
            <a:cxnLst/>
            <a:rect l="l" t="t" r="r" b="b"/>
            <a:pathLst>
              <a:path w="4500563" h="2524125">
                <a:moveTo>
                  <a:pt x="0" y="0"/>
                </a:moveTo>
                <a:lnTo>
                  <a:pt x="4500563" y="0"/>
                </a:lnTo>
                <a:lnTo>
                  <a:pt x="4500563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34238" y="4365625"/>
            <a:ext cx="421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Важно помнить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405649" y="4706938"/>
            <a:ext cx="4359276" cy="428625"/>
          </a:xfrm>
          <a:custGeom>
            <a:avLst/>
            <a:gdLst/>
            <a:ahLst/>
            <a:cxnLst/>
            <a:rect l="l" t="t" r="r" b="b"/>
            <a:pathLst>
              <a:path w="4087812" h="428625">
                <a:moveTo>
                  <a:pt x="0" y="0"/>
                </a:moveTo>
                <a:lnTo>
                  <a:pt x="4087812" y="0"/>
                </a:lnTo>
                <a:lnTo>
                  <a:pt x="4087812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14553" y="4826000"/>
            <a:ext cx="3913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Начинайте с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ближайших по уровню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источников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405650" y="5246688"/>
            <a:ext cx="4359276" cy="428625"/>
          </a:xfrm>
          <a:custGeom>
            <a:avLst/>
            <a:gdLst/>
            <a:ahLst/>
            <a:cxnLst/>
            <a:rect l="l" t="t" r="r" b="b"/>
            <a:pathLst>
              <a:path w="4087812" h="428625">
                <a:moveTo>
                  <a:pt x="0" y="0"/>
                </a:moveTo>
                <a:lnTo>
                  <a:pt x="4087812" y="0"/>
                </a:lnTo>
                <a:lnTo>
                  <a:pt x="4087812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17410" y="5365750"/>
            <a:ext cx="4191001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Используйте 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приближенные правила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для скорости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405650" y="5786438"/>
            <a:ext cx="4359276" cy="428625"/>
          </a:xfrm>
          <a:custGeom>
            <a:avLst/>
            <a:gdLst/>
            <a:ahLst/>
            <a:cxnLst/>
            <a:rect l="l" t="t" r="r" b="b"/>
            <a:pathLst>
              <a:path w="4087812" h="428625">
                <a:moveTo>
                  <a:pt x="0" y="0"/>
                </a:moveTo>
                <a:lnTo>
                  <a:pt x="4087812" y="0"/>
                </a:lnTo>
                <a:lnTo>
                  <a:pt x="4087812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83438" y="5905500"/>
            <a:ext cx="4214813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</a:t>
            </a:r>
            <a:r>
              <a:rPr lang="en-US" sz="125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Для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точных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расчетов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используйте</a:t>
            </a:r>
            <a:r>
              <a:rPr lang="en-US" sz="12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25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полную</a:t>
            </a:r>
            <a:r>
              <a:rPr lang="en-US" sz="1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формулу</a:t>
            </a:r>
            <a:endParaRPr lang="en-US" sz="125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69875" y="317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9000" y="381000"/>
            <a:ext cx="6723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НОРМАТИВНАЯ БАЗА: ГОСТЫ И СТАНДАРТЫ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313" y="912813"/>
            <a:ext cx="5667375" cy="1793875"/>
          </a:xfrm>
          <a:custGeom>
            <a:avLst/>
            <a:gdLst/>
            <a:ahLst/>
            <a:cxnLst/>
            <a:rect l="l" t="t" r="r" b="b"/>
            <a:pathLst>
              <a:path w="5667375" h="1793875">
                <a:moveTo>
                  <a:pt x="0" y="0"/>
                </a:moveTo>
                <a:lnTo>
                  <a:pt x="5667375" y="0"/>
                </a:lnTo>
                <a:lnTo>
                  <a:pt x="5667375" y="1793875"/>
                </a:lnTo>
                <a:lnTo>
                  <a:pt x="0" y="179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095375"/>
            <a:ext cx="26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992" y="1111250"/>
            <a:ext cx="1674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ГОСТ 12.1.003-83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7688" y="1459549"/>
            <a:ext cx="5254625" cy="437514"/>
          </a:xfrm>
          <a:custGeom>
            <a:avLst/>
            <a:gdLst/>
            <a:ahLst/>
            <a:cxnLst/>
            <a:rect l="l" t="t" r="r" b="b"/>
            <a:pathLst>
              <a:path w="5254625" h="492125">
                <a:moveTo>
                  <a:pt x="0" y="0"/>
                </a:moveTo>
                <a:lnTo>
                  <a:pt x="5254625" y="0"/>
                </a:lnTo>
                <a:lnTo>
                  <a:pt x="525462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500" y="1590040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«Шум. Общие требования безопасности»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874" y="1991362"/>
            <a:ext cx="5484813" cy="53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Устанавливает общие требования к обеспечению безопасности при воздействии шума на рабочих местах. Определяет предельно допустимые уровни звукового давления.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1313" y="2881313"/>
            <a:ext cx="5667375" cy="1793875"/>
          </a:xfrm>
          <a:custGeom>
            <a:avLst/>
            <a:gdLst/>
            <a:ahLst/>
            <a:cxnLst/>
            <a:rect l="l" t="t" r="r" b="b"/>
            <a:pathLst>
              <a:path w="5667375" h="1793875">
                <a:moveTo>
                  <a:pt x="0" y="0"/>
                </a:moveTo>
                <a:lnTo>
                  <a:pt x="5667375" y="0"/>
                </a:lnTo>
                <a:lnTo>
                  <a:pt x="5667375" y="1793875"/>
                </a:lnTo>
                <a:lnTo>
                  <a:pt x="0" y="179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875" y="3063875"/>
            <a:ext cx="26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992" y="3079750"/>
            <a:ext cx="1674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ГОСТ 12.1.050-86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7688" y="3468688"/>
            <a:ext cx="5254625" cy="436561"/>
          </a:xfrm>
          <a:custGeom>
            <a:avLst/>
            <a:gdLst/>
            <a:ahLst/>
            <a:cxnLst/>
            <a:rect l="l" t="t" r="r" b="b"/>
            <a:pathLst>
              <a:path w="5254625" h="492125">
                <a:moveTo>
                  <a:pt x="0" y="0"/>
                </a:moveTo>
                <a:lnTo>
                  <a:pt x="5254625" y="0"/>
                </a:lnTo>
                <a:lnTo>
                  <a:pt x="525462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500" y="3589020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«Методы измерения шума на рабочих местах»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875" y="3977956"/>
            <a:ext cx="5365750" cy="562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Регламентирует порядок измерения и контроля шума на рабочих местах. Определяет методику проведения измерений и обработки результатов.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1313" y="4849814"/>
            <a:ext cx="5667375" cy="1920874"/>
          </a:xfrm>
          <a:custGeom>
            <a:avLst/>
            <a:gdLst/>
            <a:ahLst/>
            <a:cxnLst/>
            <a:rect l="l" t="t" r="r" b="b"/>
            <a:pathLst>
              <a:path w="5667375" h="4841875">
                <a:moveTo>
                  <a:pt x="0" y="0"/>
                </a:moveTo>
                <a:lnTo>
                  <a:pt x="5667375" y="0"/>
                </a:lnTo>
                <a:lnTo>
                  <a:pt x="5667375" y="4841875"/>
                </a:lnTo>
                <a:lnTo>
                  <a:pt x="0" y="484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3875" y="5032375"/>
            <a:ext cx="26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992" y="5048250"/>
            <a:ext cx="1889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ГОСТ 12.0.003-2015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7688" y="5437188"/>
            <a:ext cx="5254625" cy="627061"/>
          </a:xfrm>
          <a:custGeom>
            <a:avLst/>
            <a:gdLst/>
            <a:ahLst/>
            <a:cxnLst/>
            <a:rect l="l" t="t" r="r" b="b"/>
            <a:pathLst>
              <a:path w="5254625" h="682625">
                <a:moveTo>
                  <a:pt x="0" y="0"/>
                </a:moveTo>
                <a:lnTo>
                  <a:pt x="5254625" y="0"/>
                </a:lnTo>
                <a:lnTo>
                  <a:pt x="5254625" y="682625"/>
                </a:lnTo>
                <a:lnTo>
                  <a:pt x="0" y="682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500" y="5547360"/>
            <a:ext cx="501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«Система стандартов безопасности труда. Опасные и вредные производственные факторы»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875" y="6198235"/>
            <a:ext cx="5365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Относит шум к вредным производственным факторам, которые могут неблагоприятно влиять на работника.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83313" y="912814"/>
            <a:ext cx="5667375" cy="2555874"/>
          </a:xfrm>
          <a:custGeom>
            <a:avLst/>
            <a:gdLst/>
            <a:ahLst/>
            <a:cxnLst/>
            <a:rect l="l" t="t" r="r" b="b"/>
            <a:pathLst>
              <a:path w="5667375" h="5667375">
                <a:moveTo>
                  <a:pt x="0" y="0"/>
                </a:moveTo>
                <a:lnTo>
                  <a:pt x="5667375" y="0"/>
                </a:lnTo>
                <a:lnTo>
                  <a:pt x="5667375" y="5667375"/>
                </a:lnTo>
                <a:lnTo>
                  <a:pt x="0" y="5667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pic>
        <p:nvPicPr>
          <p:cNvPr id="24" name="Image 0" descr="https://kimi-web-img.moonshot.cn/img/meters.uni-trend.com/8e246cad06cc17c0bce8750c40b7a7aa5713371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47435" y="987439"/>
            <a:ext cx="2786269" cy="2362186"/>
          </a:xfrm>
          <a:prstGeom prst="roundRect">
            <a:avLst>
              <a:gd name="adj" fmla="val 0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6191250" y="3683002"/>
            <a:ext cx="5667375" cy="3087685"/>
          </a:xfrm>
          <a:custGeom>
            <a:avLst/>
            <a:gdLst/>
            <a:ahLst/>
            <a:cxnLst/>
            <a:rect l="l" t="t" r="r" b="b"/>
            <a:pathLst>
              <a:path w="5667375" h="2936875">
                <a:moveTo>
                  <a:pt x="0" y="0"/>
                </a:moveTo>
                <a:lnTo>
                  <a:pt x="5667375" y="0"/>
                </a:lnTo>
                <a:lnTo>
                  <a:pt x="5667375" y="2936875"/>
                </a:lnTo>
                <a:lnTo>
                  <a:pt x="0" y="2936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73812" y="3884294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Принцип оценки в стандартах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97625" y="4309427"/>
            <a:ext cx="5254625" cy="619125"/>
          </a:xfrm>
          <a:custGeom>
            <a:avLst/>
            <a:gdLst/>
            <a:ahLst/>
            <a:cxnLst/>
            <a:rect l="l" t="t" r="r" b="b"/>
            <a:pathLst>
              <a:path w="5254625" h="619125">
                <a:moveTo>
                  <a:pt x="0" y="0"/>
                </a:moveTo>
                <a:lnTo>
                  <a:pt x="5254625" y="0"/>
                </a:lnTo>
                <a:lnTo>
                  <a:pt x="52546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6687" y="4438649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 рамках стандартов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суммарный шум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рассматривается как результат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совместного действия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нескольких источников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397625" y="5081586"/>
            <a:ext cx="5254625" cy="619125"/>
          </a:xfrm>
          <a:custGeom>
            <a:avLst/>
            <a:gdLst/>
            <a:ahLst/>
            <a:cxnLst/>
            <a:rect l="l" t="t" r="r" b="b"/>
            <a:pathLst>
              <a:path w="5254625" h="619125">
                <a:moveTo>
                  <a:pt x="0" y="0"/>
                </a:moveTo>
                <a:lnTo>
                  <a:pt x="5254625" y="0"/>
                </a:lnTo>
                <a:lnTo>
                  <a:pt x="52546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16687" y="5231129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Поэтому используется энергетическое, а не арифметическое сложение уровней!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397625" y="5826443"/>
            <a:ext cx="5254625" cy="737869"/>
          </a:xfrm>
          <a:custGeom>
            <a:avLst/>
            <a:gdLst/>
            <a:ahLst/>
            <a:cxnLst/>
            <a:rect l="l" t="t" r="r" b="b"/>
            <a:pathLst>
              <a:path w="5254625" h="619125">
                <a:moveTo>
                  <a:pt x="0" y="0"/>
                </a:moveTo>
                <a:lnTo>
                  <a:pt x="5254625" y="0"/>
                </a:lnTo>
                <a:lnTo>
                  <a:pt x="52546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16687" y="6003289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 практических расчетах и сопоставлении с нормативными требованиями необходимо учитывать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 действующие источники шума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28">
            <a:extLst>
              <a:ext uri="{FF2B5EF4-FFF2-40B4-BE49-F238E27FC236}">
                <a16:creationId xmlns:a16="http://schemas.microsoft.com/office/drawing/2014/main" id="{3136FEEE-00F0-7063-1242-05E5F22EEC05}"/>
              </a:ext>
            </a:extLst>
          </p:cNvPr>
          <p:cNvSpPr/>
          <p:nvPr/>
        </p:nvSpPr>
        <p:spPr>
          <a:xfrm>
            <a:off x="6256845" y="912813"/>
            <a:ext cx="5667375" cy="2515459"/>
          </a:xfrm>
          <a:custGeom>
            <a:avLst/>
            <a:gdLst/>
            <a:ahLst/>
            <a:cxnLst/>
            <a:rect l="l" t="t" r="r" b="b"/>
            <a:pathLst>
              <a:path w="5667375" h="3127375">
                <a:moveTo>
                  <a:pt x="0" y="0"/>
                </a:moveTo>
                <a:lnTo>
                  <a:pt x="5667375" y="0"/>
                </a:lnTo>
                <a:lnTo>
                  <a:pt x="5667375" y="3127375"/>
                </a:lnTo>
                <a:lnTo>
                  <a:pt x="0" y="3127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317500" y="317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69875" y="317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9000" y="381000"/>
            <a:ext cx="8366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ПРАКТИЧЕСКОЕ ПРИМЕНЕНИЕ: ОЦЕНКА РАБОЧИХ МЕСТ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313" y="912813"/>
            <a:ext cx="5667375" cy="2983229"/>
          </a:xfrm>
          <a:custGeom>
            <a:avLst/>
            <a:gdLst/>
            <a:ahLst/>
            <a:cxnLst/>
            <a:rect l="l" t="t" r="r" b="b"/>
            <a:pathLst>
              <a:path w="5667375" h="2809875">
                <a:moveTo>
                  <a:pt x="0" y="0"/>
                </a:moveTo>
                <a:lnTo>
                  <a:pt x="5667375" y="0"/>
                </a:lnTo>
                <a:lnTo>
                  <a:pt x="5667375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523875" y="1095375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Зачем нужны правила сложения?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7688" y="1468438"/>
            <a:ext cx="5254625" cy="514348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1587499"/>
            <a:ext cx="5080000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Для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оценки условий труда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при наличии нескольких источников шума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7688" y="2079307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" y="219837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Для определения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необходимости защитных мер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7688" y="261905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6750" y="273812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Для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корректного сопоставления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с нормативными требованиями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7688" y="3209608"/>
            <a:ext cx="5254625" cy="428625"/>
          </a:xfrm>
          <a:custGeom>
            <a:avLst/>
            <a:gdLst/>
            <a:ahLst/>
            <a:cxnLst/>
            <a:rect l="l" t="t" r="r" b="b"/>
            <a:pathLst>
              <a:path w="5254625" h="428625">
                <a:moveTo>
                  <a:pt x="0" y="0"/>
                </a:moveTo>
                <a:lnTo>
                  <a:pt x="5254625" y="0"/>
                </a:lnTo>
                <a:lnTo>
                  <a:pt x="5254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750" y="332867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Для </a:t>
            </a: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выбора инженерных решений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по снижению шума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1313" y="4111626"/>
            <a:ext cx="5667375" cy="2571750"/>
          </a:xfrm>
          <a:custGeom>
            <a:avLst/>
            <a:gdLst/>
            <a:ahLst/>
            <a:cxnLst/>
            <a:rect l="l" t="t" r="r" b="b"/>
            <a:pathLst>
              <a:path w="5667375" h="4111625">
                <a:moveTo>
                  <a:pt x="0" y="0"/>
                </a:moveTo>
                <a:lnTo>
                  <a:pt x="5667375" y="0"/>
                </a:lnTo>
                <a:lnTo>
                  <a:pt x="5667375" y="4111625"/>
                </a:lnTo>
                <a:lnTo>
                  <a:pt x="0" y="4111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3875" y="4252595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Инженерные решения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7688" y="4818698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0" y="0"/>
                </a:moveTo>
                <a:lnTo>
                  <a:pt x="2571750" y="0"/>
                </a:lnTo>
                <a:lnTo>
                  <a:pt x="2571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750" y="4937760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Шумоизоляция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30563" y="4818698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0" y="0"/>
                </a:moveTo>
                <a:lnTo>
                  <a:pt x="2571750" y="0"/>
                </a:lnTo>
                <a:lnTo>
                  <a:pt x="2571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9625" y="4937760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Ограждение источника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7688" y="5358448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0" y="0"/>
                </a:moveTo>
                <a:lnTo>
                  <a:pt x="2571750" y="0"/>
                </a:lnTo>
                <a:lnTo>
                  <a:pt x="2571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6750" y="5477510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Установка кожухов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30563" y="5358448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0" y="0"/>
                </a:moveTo>
                <a:lnTo>
                  <a:pt x="2571750" y="0"/>
                </a:lnTo>
                <a:lnTo>
                  <a:pt x="2571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9625" y="5477510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Экранирование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7688" y="5898198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0" y="0"/>
                </a:moveTo>
                <a:lnTo>
                  <a:pt x="2571750" y="0"/>
                </a:lnTo>
                <a:lnTo>
                  <a:pt x="2571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750" y="6017260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Увеличение расстояния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30563" y="5898198"/>
            <a:ext cx="2571750" cy="428625"/>
          </a:xfrm>
          <a:custGeom>
            <a:avLst/>
            <a:gdLst/>
            <a:ahLst/>
            <a:cxnLst/>
            <a:rect l="l" t="t" r="r" b="b"/>
            <a:pathLst>
              <a:path w="2571750" h="428625">
                <a:moveTo>
                  <a:pt x="0" y="0"/>
                </a:moveTo>
                <a:lnTo>
                  <a:pt x="2571750" y="0"/>
                </a:lnTo>
                <a:lnTo>
                  <a:pt x="2571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9625" y="6017260"/>
            <a:ext cx="239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СИЗ (наушники)</a:t>
            </a:r>
            <a:endParaRPr lang="en-US" sz="1200" dirty="0"/>
          </a:p>
        </p:txBody>
      </p:sp>
      <p:pic>
        <p:nvPicPr>
          <p:cNvPr id="30" name="Image 0" descr="https://kimi-web-img.moonshot.cn/img/www.justrite.com/d9835c53428264d64026189b3b04e35c717012b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9836" y="1069323"/>
            <a:ext cx="3301392" cy="2200928"/>
          </a:xfrm>
          <a:prstGeom prst="roundRect">
            <a:avLst>
              <a:gd name="adj" fmla="val 0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6256845" y="3556001"/>
            <a:ext cx="5667375" cy="3127375"/>
          </a:xfrm>
          <a:custGeom>
            <a:avLst/>
            <a:gdLst/>
            <a:ahLst/>
            <a:cxnLst/>
            <a:rect l="l" t="t" r="r" b="b"/>
            <a:pathLst>
              <a:path w="5667375" h="3127375">
                <a:moveTo>
                  <a:pt x="0" y="0"/>
                </a:moveTo>
                <a:lnTo>
                  <a:pt x="5667375" y="0"/>
                </a:lnTo>
                <a:lnTo>
                  <a:pt x="5667375" y="3127375"/>
                </a:lnTo>
                <a:lnTo>
                  <a:pt x="0" y="3127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39407" y="3738563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Важные факторы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63220" y="4111626"/>
            <a:ext cx="5254625" cy="1127125"/>
          </a:xfrm>
          <a:custGeom>
            <a:avLst/>
            <a:gdLst/>
            <a:ahLst/>
            <a:cxnLst/>
            <a:rect l="l" t="t" r="r" b="b"/>
            <a:pathLst>
              <a:path w="5254625" h="1127125">
                <a:moveTo>
                  <a:pt x="0" y="0"/>
                </a:moveTo>
                <a:lnTo>
                  <a:pt x="5254625" y="0"/>
                </a:lnTo>
                <a:lnTo>
                  <a:pt x="5254625" y="1127125"/>
                </a:lnTo>
                <a:lnTo>
                  <a:pt x="0" y="11271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2282" y="4230688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Контроль шума</a:t>
            </a: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должен опираться на: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709282" y="4484688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Измерения на рабочем месте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709282" y="4706938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Корректное сложение уровней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709282" y="4929188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Сопоставление с ПДУ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463220" y="5349876"/>
            <a:ext cx="5254625" cy="1127125"/>
          </a:xfrm>
          <a:custGeom>
            <a:avLst/>
            <a:gdLst/>
            <a:ahLst/>
            <a:cxnLst/>
            <a:rect l="l" t="t" r="r" b="b"/>
            <a:pathLst>
              <a:path w="5254625" h="1127125">
                <a:moveTo>
                  <a:pt x="0" y="0"/>
                </a:moveTo>
                <a:lnTo>
                  <a:pt x="5254625" y="0"/>
                </a:lnTo>
                <a:lnTo>
                  <a:pt x="5254625" y="1127125"/>
                </a:lnTo>
                <a:lnTo>
                  <a:pt x="0" y="1127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2282" y="5468938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Дополнительно учитывайте: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709282" y="5722938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Длительность воздействия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709282" y="5945188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Режим работы оборудования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709282" y="6167438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Расположение источников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6381750"/>
          </a:xfrm>
          <a:custGeom>
            <a:avLst/>
            <a:gdLst/>
            <a:ahLst/>
            <a:cxnLst/>
            <a:rect l="l" t="t" r="r" b="b"/>
            <a:pathLst>
              <a:path w="11509375" h="6381750">
                <a:moveTo>
                  <a:pt x="0" y="0"/>
                </a:moveTo>
                <a:lnTo>
                  <a:pt x="11509375" y="0"/>
                </a:lnTo>
                <a:lnTo>
                  <a:pt x="11509375" y="6381750"/>
                </a:lnTo>
                <a:lnTo>
                  <a:pt x="0" y="6381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19125" y="6191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59594" y="619125"/>
            <a:ext cx="62706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54125" y="682625"/>
            <a:ext cx="29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2938" y="1341438"/>
            <a:ext cx="5334000" cy="5080000"/>
          </a:xfrm>
          <a:custGeom>
            <a:avLst/>
            <a:gdLst/>
            <a:ahLst/>
            <a:cxnLst/>
            <a:rect l="l" t="t" r="r" b="b"/>
            <a:pathLst>
              <a:path w="5334000" h="5080000">
                <a:moveTo>
                  <a:pt x="0" y="0"/>
                </a:moveTo>
                <a:lnTo>
                  <a:pt x="5334000" y="0"/>
                </a:lnTo>
                <a:lnTo>
                  <a:pt x="5334000" y="5080000"/>
                </a:lnTo>
                <a:lnTo>
                  <a:pt x="0" y="508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7250" y="1555750"/>
            <a:ext cx="5024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Три главных правила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1063" y="2185353"/>
            <a:ext cx="4857750" cy="1021397"/>
          </a:xfrm>
          <a:custGeom>
            <a:avLst/>
            <a:gdLst/>
            <a:ahLst/>
            <a:cxnLst/>
            <a:rect l="l" t="t" r="r" b="b"/>
            <a:pathLst>
              <a:path w="4857750" h="777875">
                <a:moveTo>
                  <a:pt x="0" y="0"/>
                </a:moveTo>
                <a:lnTo>
                  <a:pt x="4857750" y="0"/>
                </a:lnTo>
                <a:lnTo>
                  <a:pt x="4857750" y="777875"/>
                </a:lnTo>
                <a:lnTo>
                  <a:pt x="0" y="777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1875" y="2336165"/>
            <a:ext cx="25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9582" y="2336165"/>
            <a:ext cx="438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Удвоение источников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49422" y="2753995"/>
            <a:ext cx="4373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 удвоении одинаковых источников уровень растет примерно на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дБ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0903" y="3452813"/>
            <a:ext cx="4857750" cy="1119187"/>
          </a:xfrm>
          <a:custGeom>
            <a:avLst/>
            <a:gdLst/>
            <a:ahLst/>
            <a:cxnLst/>
            <a:rect l="l" t="t" r="r" b="b"/>
            <a:pathLst>
              <a:path w="4857750" h="968375">
                <a:moveTo>
                  <a:pt x="0" y="0"/>
                </a:moveTo>
                <a:lnTo>
                  <a:pt x="4857750" y="0"/>
                </a:lnTo>
                <a:lnTo>
                  <a:pt x="4857750" y="968375"/>
                </a:lnTo>
                <a:lnTo>
                  <a:pt x="0" y="968375"/>
                </a:lnTo>
                <a:lnTo>
                  <a:pt x="0" y="0"/>
                </a:lnTo>
                <a:close/>
              </a:path>
            </a:pathLst>
          </a:custGeom>
          <a:solidFill>
            <a:srgbClr val="1E2939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715" y="3603625"/>
            <a:ext cx="25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9422" y="3603625"/>
            <a:ext cx="4405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Разница уровней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9422" y="3960495"/>
            <a:ext cx="4389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 заметной разнице между источниками слабый вклад быстро становится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несущественным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1063" y="4727892"/>
            <a:ext cx="4857750" cy="1119187"/>
          </a:xfrm>
          <a:custGeom>
            <a:avLst/>
            <a:gdLst/>
            <a:ahLst/>
            <a:cxnLst/>
            <a:rect l="l" t="t" r="r" b="b"/>
            <a:pathLst>
              <a:path w="4857750" h="968375">
                <a:moveTo>
                  <a:pt x="0" y="0"/>
                </a:moveTo>
                <a:lnTo>
                  <a:pt x="4857750" y="0"/>
                </a:lnTo>
                <a:lnTo>
                  <a:pt x="4857750" y="968375"/>
                </a:lnTo>
                <a:lnTo>
                  <a:pt x="0" y="968375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1875" y="4878705"/>
            <a:ext cx="25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59582" y="4878705"/>
            <a:ext cx="4405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Суммарная энергия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9582" y="5215255"/>
            <a:ext cx="4389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Несколько источников нужно оценивать по </a:t>
            </a: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суммарной энергии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а не арифметической сумме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5063" y="1341438"/>
            <a:ext cx="5334000" cy="5080000"/>
          </a:xfrm>
          <a:custGeom>
            <a:avLst/>
            <a:gdLst/>
            <a:ahLst/>
            <a:cxnLst/>
            <a:rect l="l" t="t" r="r" b="b"/>
            <a:pathLst>
              <a:path w="5334000" h="4222750">
                <a:moveTo>
                  <a:pt x="0" y="0"/>
                </a:moveTo>
                <a:lnTo>
                  <a:pt x="5334000" y="0"/>
                </a:lnTo>
                <a:lnTo>
                  <a:pt x="5334000" y="4222750"/>
                </a:lnTo>
                <a:lnTo>
                  <a:pt x="0" y="4222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35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29375" y="1555750"/>
            <a:ext cx="5024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Главный вывод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53188" y="1992313"/>
            <a:ext cx="4857750" cy="1397000"/>
          </a:xfrm>
          <a:custGeom>
            <a:avLst/>
            <a:gdLst/>
            <a:ahLst/>
            <a:cxnLst/>
            <a:rect l="l" t="t" r="r" b="b"/>
            <a:pathLst>
              <a:path w="4857750" h="1397000">
                <a:moveTo>
                  <a:pt x="0" y="0"/>
                </a:moveTo>
                <a:lnTo>
                  <a:pt x="4857750" y="0"/>
                </a:lnTo>
                <a:lnTo>
                  <a:pt x="4857750" y="1397000"/>
                </a:lnTo>
                <a:lnTo>
                  <a:pt x="0" y="1397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5750" y="2174875"/>
            <a:ext cx="4572000" cy="1031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Шумовые уровни нельзя складывать как обычные числа.</a:t>
            </a:r>
            <a:r>
              <a:rPr lang="en-US" sz="1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Для этого используется логарифмическое сложение, основанное на переводе в линейную шкалу и обратном переводе в децибелы.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53188" y="3563938"/>
            <a:ext cx="4857750" cy="1762125"/>
          </a:xfrm>
          <a:custGeom>
            <a:avLst/>
            <a:gdLst/>
            <a:ahLst/>
            <a:cxnLst/>
            <a:rect l="l" t="t" r="r" b="b"/>
            <a:pathLst>
              <a:path w="4857750" h="1762125">
                <a:moveTo>
                  <a:pt x="0" y="0"/>
                </a:moveTo>
                <a:lnTo>
                  <a:pt x="4857750" y="0"/>
                </a:lnTo>
                <a:lnTo>
                  <a:pt x="4857750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5750" y="3746500"/>
            <a:ext cx="457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Корректное сложение уровней шума позволяет: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35750" y="4064000"/>
            <a:ext cx="456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Не завысить реальную шумовую нагрузку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35750" y="4349750"/>
            <a:ext cx="456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Не занизить реальную шумовую нагрузку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35750" y="4635500"/>
            <a:ext cx="456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Правильно выбрать меры защиты работников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35750" y="4921250"/>
            <a:ext cx="456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Оценить безопасность условий труда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1337</Words>
  <Application>Microsoft Macintosh PowerPoint</Application>
  <PresentationFormat>Широкоэкранный</PresentationFormat>
  <Paragraphs>246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MiSans</vt:lpstr>
      <vt:lpstr>Arial</vt:lpstr>
      <vt:lpstr>Noto Sans SC</vt:lpstr>
      <vt:lpstr>Calibri</vt:lpstr>
      <vt:lpstr>Cambria Math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Правила сложения уровней шума</dc:title>
  <dc:subject>Правила сложения уровней шума</dc:subject>
  <dc:creator>Kimi</dc:creator>
  <cp:lastModifiedBy>Кошенков Дмитрий Олегович</cp:lastModifiedBy>
  <cp:revision>4</cp:revision>
  <dcterms:created xsi:type="dcterms:W3CDTF">2026-04-11T15:59:42Z</dcterms:created>
  <dcterms:modified xsi:type="dcterms:W3CDTF">2026-04-27T08:43:25Z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{"Label":"Правила сложения уровней шума","ContentProducer":"001191110108MACG2KBH8F10000","ProduceID":"19d7d3c1-1922-8196-8000-00003ec47e10","ReservedCode1":"","ContentPropagator":"001191110108MACG2KBH8F20000","PropagateID":"19d7d3c1-1922-8196-8000-00003ec47e10","ReservedCode2":""}</vt:lpwstr>
  </property>
</Properties>
</file>